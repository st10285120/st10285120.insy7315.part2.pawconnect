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3" d="100"/>
          <a:sy n="163" d="100"/>
        </p:scale>
        <p:origin x="17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635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Introduce the team and the client: Hope &amp; Paws, a small Muizenberg shelter with 5 staff and about 20 volunteers. Say what this presentation covers: a live demo, how we built it, how it is hosted and deployed, and how it meets the requirements from Part 1. Our goal today is the client's approval to go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Recap Part 1 in 30 seconds: these four pain points came from the requirements session with the shelter manager. Each card shows what the shelter did before and what PawConnect does now. Donations and funder reporting are covered too; we'll see those in the admin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drives the demo on the LIVE Azure staging site, which has the demo animals and accounts: https://pawconnect-st10285120-staging-g0dzbfbtc8atbfcw.southafricanorth-01.azurewebsites.net (password Demo!Paws2026). Open it a few minutes before presenting so it is awake. Use three browser windows (normal, incognito, second profile) so all three roles are signed in at once. Script: (1) Adopter registers, ticks the consent box, filters Cats + Good with kids, opens a profile, applies (show the draft restoring after a refresh), sees the confirmation reference. (2) Volunteer priya@pawconnect.demo opens the application, Start review, Approve with a note. Open Milo and log a vaccination; the badge flips to Vaccinated. Sign up for a shift, then try an overlapping shift to show it's refused. (3) Admin: record home visit and fee, Mark as adopted, the animal shows Adopted publicly. Reports: export CSV. Keep it to 4-5 minutes. Backup: a screen recording in case the network fails.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Front-end rubric points: responsive from 360 px phones to desktop (same page shown on both); accessibility is tested automatically with axe-core on every page, for every role, at desktop and mobile widths, in CI, and the result is zero violations. Mention contrast of at least 4.5:1, labels, skip link, keyboard focus and aria-live result counts. UX feedback: a toast for every action (errors are announced immediately and stay until dismissed), buttons show a spinner and lock while a form is sending so nothing is submitted twice, server errors are marked on the field itself (aria-invalid, read out with the field), confirmations before approving or completing an adoption, autosaved application drafts, and the application status tracker. Demo animals have real photos. Progressive enhancement: filters and forms still work if JavaScript fails.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The volunteer dashboard replaces the WhatsApp group. Full shifts are shown as full, your own shifts are highlighted, and sign-up refuses overbooking and clashes. The medical history panel implements design-doc flow 4.2 exactly: GET /api/animals/{id}?include=history, then POST /api/medical-records. Logging a vaccination updates the public vaccination badge immediately.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Admin tools: intake with photo upload, shift creation, hour approvals, confirming pledged donations (the donor gets an emailed receipt), user management (create volunteers, change roles, deactivate), and the funder report. The report also shows average time to decision against the success criterion of under 2 days. The CSV export protects against spreadsheet formula injection.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We compared monolith, microservices and serverless in Part 1 (design doc 6.2) and chose a layered 3-tier modular monolith. The dependency rule: Core has no dependency on EF Core or ASP.NET MVC, so business rules are unit-tested against in-memory repositories, and we could swap the database or UI without touching them. It's one deployable app, which is the cheapest to host for a shelter with a R1,500/month budget, and has no serverless cold starts to break the 500 ms NFR.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These are the three patterns from design doc 6.1, plus the state machine from 4.3. Show code if asked: Core/Interfaces/IRepositories.cs, Core/Notifications/NotificationStrategySelector.cs, Core/Receipts/DonationReceipt.cs, Core/Services/ApplicationStateMachine.cs. Why the Strategy pattern matters to the client: SMS costs money, so it's only used for urgent shift messages; a new channel is one new class with no changes elsewhere.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This is the state diagram from design doc 4.3, now enforced in code by ApplicationStateMachine and AdoptionService. Example: a rejected application can never be marked adopted, and approval is refused unless review has started. The API returns 409 Conflict with a clear message when a transition isn't allowed. Our tests cover every allowed and blocked transition.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The ERD from Part 1 is implemented in PostgreSQL through EF Core migrations, extended with ShiftSignups, HourLogs, an application audit trail, photos and notifications (full ER diagram in docs/ARCHITECTURE.md). Key point for the database rubric: integrity isn't only checked in code. If two people submit for the same dog at the same instant, the partial unique index rejects the second insert. Shift sign-ups use an optimistic concurrency token, so the last place can't be taken twice. Applications and animals carry a concurrency token too: if a volunteer approves while the adopter withdraws, the second save is refused (409) instead of overwriting. CHECK constraints refuse invalid amounts, hours, capacities and statuses, and partial unique indexes allow one animal per kennel, one adoption fee per application and one cover photo per animal. All of this is proven by tests on a real PostgreSQL database in CI. Money is numeric(10,2), times are UTC, enums are readable text, and deletes are restricted where history matters.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The browser's own JavaScript uses this API (live filtering and medical records), and so can any other client. The full list of 17 endpoints is in the README, and PawConnect.http in the repo runs them from Rider. DTOs mean internal fields like password hashes and photo bytes never leak. Model validation returns 400; wrong role returns 403; illegal workflow moves return 409 with the reason. Integration tests exercise the API through the real HTTP pipeline.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This maps to the OWASP table in the design doc (7.3). Offer to prove it live: call /api/animals/{id}?include=history without signing in (401) and as an adopter (403). Other points: images are checked by their bytes, not their name; the CI build fails if any NuGet package has a known vulnerability; deactivated users are locked out and their sessions end within 5 minutes; and there are integration tests for lockout, CSRF, role checks, and for changing an id to reach someone else's application or donation (404, so ids can't even be probed).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5 / DevOps lead]. What is live today: two Azure App Service web apps in South Africa North (production on main, staging on develop), each with its own database on one Azure Database for PostgreSQL flexible server. Connection strings and the admin password are app settings, never in the code or GitHub. The database firewall only lets our web apps in. Why App Service: fully managed (patching, TLS, scaling), native .NET 8 support, and South Africa North keeps personal data in the country (POPIA). Our student Azure account blocks Entra app registrations, so GitHub deploys with publish profiles stored as GitHub secrets instead of OIDC. The full target design is in infra/main.bicep: on the S1 plan it adds blue-green deployment slots with automatic rollback, Key Vault and Application Insights with alerts, from one script (scripts/azure-setup.sh). Cost: S1 is about US$70/month; the free/basic plans we use for the demo have no slots, so staging is a separate app. Show /health and /version on the live site. A free Render + Neon setup is documented as a fallback (docs/DEPLOYMENT-FREE.md).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5]. Show the real GitHub repository: the network graph (Insights → Network), a merged pull request with its review and green checks, and the branch protection rules. Explain the flow: feature branches from develop, PRs back into develop (which deploys to staging), then a release PR from develop to main (which deploys to production after approval). Point to CONTRIBUTING.md for the rules and the ownership split. Screenshot for the slide: [paste your GitHub network graph here if you want].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5]. Show the Actions tab: a green CI run (open the job summary to show the 84.3% coverage report), and a Deploy run on main showing the approval gate, the production deploy and the health check. A release only counts as done when the live site reports the exact commit we built on /version and /health says Healthy, so a deploy that uploads but doesn't start is caught and the run goes red. That happened to us once: the run failed, we fixed the database firewall and re-ran it. On the S1 plan the same workflow deploys to a staging slot, swaps it into production and swaps back automatically if the health check fails. This is the design doc's 8.2 pipeline, implemented as .github/workflows/ci.yml and deploy.yml. The rubric's top band asks us to "demonstrate automated testing and deployment success"; this is where we do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5]. Each number is enforced by the pipeline, not just measured once. 132 tests run on every PR: unit tests for the patterns, service tests against real repositories, integration tests that boot the whole app (including access-control tests: another user or another branch gets 404), and 13 tests on a real PostgreSQL database that prove the constraints and concurrency rules with two users acting at the same moment. CI fails if line coverage drops below 70%. The accessibility audit runs axe-core on every page for every role on desktop and mobile. p95 of 109 ms is from a local load test (300 requests, 10 concurrent); replace it with the Azure figure from Application Insights once live: [Azure p95]. Coverage from the CI job summary: 84.3% line coverage overall (Core 93.1%, Infrastructure 91.2%, Web 72.1%), above the 70% gate.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The traceability document maps each user story, acceptance criterion and NFR from Part 1 to where it's implemented and the named test that proves it. The volunteer-hours stories came from our prototype and are counted in the 5 volunteer and 5 admin stories. Success criteria are supported too, for example the report's average time to decision against the 2-day target, and zero double bookings enforced by the database. The NFR count includes accessibility, which the front-end rubric asks for.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Be open about the stack change: Part 1 planned React + Express + Azure AD B2C, but our prototype was ASP.NET Core, and Microsoft stopped selling B2C to new customers in 2025. The design document is updated in Task 3 (docs/TASK3-DOC-UPDATES.md). Other challenges worth mentioning: a strict Content-Security-Policy meant rewriting inline onclick handlers into site.js; and deployment slots need the S1 tier, which affected the cost plan (B1 and free F1 fallbacks are built into the Bicep and the pipeline). A code review against the rubric also led us to add branch scoping for volunteers, concurrency tokens on applications, database CHECK constraints, and PostgreSQL tests in CI. Bug story: EF Core treats a new child row with a preset GUID key as an existing row; our browser tests caught it and the fix lets EF generate the key.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5]. The point of this slide: the pipeline's checks did their job. (1) Creating the GitHub identity in Microsoft Entra returned "You don't have access" on our student account, so deploy.yml got a second mode using publish profiles stored as GitHub secrets (documented in docs/DEPLOYMENT.md). (2) The first staging deploy uploaded fine, but the "wait until this build is running" step timed out: Azure now gives new apps a unique default domain (name-hash.southafricanorth-01.azurewebsites.net), so we added AZURE_WEBAPP_URL variables. (3) The site then showed HTTP 500.30. Running the app in the Kudu console printed the real error, a timeout connecting to PostgreSQL on port 5432: the database firewall was blocking the web app. After adding firewall rules it applied all three migrations, seeded the demo data and started. Production had the same issue; the pipeline went red, we fixed it and re-ran the failed job. (4) The CI vulnerable-package scan failed on transitive System.Text.Json and Microsoft.Extensions.Caching.Memory versions; we pinned the patched 8.0.x releases. Every one of these was caught by an automated check, not by a user.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The rubric frames this presentation as obtaining the client's approval to implement, so ask for it directly. Summarise: all Part 1 requirements delivered and tested; secure; running on Azure in South Africa North, with production released only after approval and a live health check. Production: https://pawconnect-st10285120-fbfcdpfnf5g2h0bk.southafricanorth-01.azurewebsites.net (starts empty, only the administrator). Staging, with demo data: https://pawconnect-st10285120-staging-g0dzbfbtc8atbfcw.southafricanorth-01.azurewebsites.net. Next steps from the change-management plan: UAT with the shelter manager and two volunteers, the user guide and training, parallel running with the spreadsheet for two weeks, then go live. Invite questions; the likely ones are on security, the stack change and cost.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7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6" y="1076771"/>
            <a:ext cx="10566549" cy="502791"/>
          </a:xfrm>
          <a:prstGeom prst="rect">
            <a:avLst/>
          </a:prstGeom>
          <a:noFill/>
          <a:ln/>
        </p:spPr>
        <p:txBody>
          <a:bodyPr wrap="square" lIns="0" tIns="0" rIns="0" bIns="0" rtlCol="0" anchor="t"/>
          <a:lstStyle>
            <a:lvl1pPr marL="0" indent="0" algn="l">
              <a:lnSpc>
                <a:spcPct val="115000"/>
              </a:lnSpc>
              <a:buNone/>
              <a:defRPr lang="en-US" sz="3600" dirty="0">
                <a:solidFill>
                  <a:srgbClr val="1F3A2E"/>
                </a:solidFill>
                <a:latin typeface="Zilla Slab" pitchFamily="34" charset="0"/>
                <a:ea typeface="Zilla Slab" pitchFamily="34" charset="-122"/>
                <a:cs typeface="Zilla Slab"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26" y="1884363"/>
            <a:ext cx="10566474" cy="4160838"/>
          </a:xfrm>
          <a:prstGeom prst="rect">
            <a:avLst/>
          </a:prstGeom>
          <a:noFill/>
          <a:ln/>
        </p:spPr>
        <p:txBody>
          <a:bodyPr wrap="square" lIns="0" tIns="0" rIns="0" bIns="0" rtlCol="0" anchor="t"/>
          <a:lstStyle>
            <a:lvl1pPr marL="0" indent="0" algn="l">
              <a:lnSpc>
                <a:spcPct val="140000"/>
              </a:lnSpc>
              <a:buNone/>
              <a:defRPr lang="en-US" sz="1600" dirty="0">
                <a:solidFill>
                  <a:srgbClr val="1F3A2E"/>
                </a:solidFill>
                <a:latin typeface="Karla" pitchFamily="34" charset="0"/>
                <a:ea typeface="Karla" pitchFamily="34" charset="-122"/>
                <a:cs typeface="Karla"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6" y="1076771"/>
            <a:ext cx="10566549" cy="502791"/>
          </a:xfrm>
          <a:prstGeom prst="rect">
            <a:avLst/>
          </a:prstGeom>
          <a:noFill/>
          <a:ln/>
        </p:spPr>
        <p:txBody>
          <a:bodyPr wrap="square" lIns="0" tIns="0" rIns="0" bIns="0" rtlCol="0" anchor="t"/>
          <a:lstStyle>
            <a:lvl1pPr marL="0" indent="0" algn="l">
              <a:lnSpc>
                <a:spcPct val="115000"/>
              </a:lnSpc>
              <a:buNone/>
              <a:defRPr lang="en-US" sz="3600" dirty="0">
                <a:solidFill>
                  <a:srgbClr val="1F3A2E"/>
                </a:solidFill>
                <a:latin typeface="Zilla Slab" pitchFamily="34" charset="0"/>
                <a:ea typeface="Zilla Slab" pitchFamily="34" charset="-122"/>
                <a:cs typeface="Zilla Slab"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26" y="1884363"/>
            <a:ext cx="10566474" cy="4160838"/>
          </a:xfrm>
          <a:prstGeom prst="rect">
            <a:avLst/>
          </a:prstGeom>
          <a:noFill/>
          <a:ln/>
        </p:spPr>
        <p:txBody>
          <a:bodyPr wrap="square" lIns="0" tIns="0" rIns="0" bIns="0" rtlCol="0" anchor="t"/>
          <a:lstStyle>
            <a:lvl1pPr marL="0" indent="0" algn="l">
              <a:lnSpc>
                <a:spcPct val="140000"/>
              </a:lnSpc>
              <a:buNone/>
              <a:defRPr lang="en-US" sz="1600" dirty="0">
                <a:solidFill>
                  <a:srgbClr val="1F3A2E"/>
                </a:solidFill>
                <a:latin typeface="Karla" pitchFamily="34" charset="0"/>
                <a:ea typeface="Karla" pitchFamily="34" charset="-122"/>
                <a:cs typeface="Karla"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2E"/>
        </a:solidFill>
        <a:effectLst/>
      </p:bgPr>
    </p:bg>
    <p:spTree>
      <p:nvGrpSpPr>
        <p:cNvPr id="1" name=""/>
        <p:cNvGrpSpPr/>
        <p:nvPr/>
      </p:nvGrpSpPr>
      <p:grpSpPr>
        <a:xfrm>
          <a:off x="0" y="0"/>
          <a:ext cx="0" cy="0"/>
          <a:chOff x="0" y="0"/>
          <a:chExt cx="0" cy="0"/>
        </a:xfrm>
      </p:grpSpPr>
      <p:sp>
        <p:nvSpPr>
          <p:cNvPr id="2" name="Text 0"/>
          <p:cNvSpPr/>
          <p:nvPr/>
        </p:nvSpPr>
        <p:spPr>
          <a:xfrm>
            <a:off x="812726" y="2058789"/>
            <a:ext cx="5232528"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8A33D"/>
                </a:solidFill>
                <a:latin typeface="Space Mono" pitchFamily="49" charset="0"/>
                <a:ea typeface="Space Mono" pitchFamily="49" charset="-122"/>
                <a:cs typeface="Space Mono" pitchFamily="49" charset="-120"/>
              </a:rPr>
              <a:t>INSY7315 · TASK 2 · IMPLEMENTATION</a:t>
            </a:r>
            <a:endParaRPr lang="en-US" sz="1200" dirty="0"/>
          </a:p>
        </p:txBody>
      </p:sp>
      <p:sp>
        <p:nvSpPr>
          <p:cNvPr id="3" name="Text 1"/>
          <p:cNvSpPr>
            <a:spLocks noGrp="1"/>
          </p:cNvSpPr>
          <p:nvPr>
            <p:ph type="title"/>
          </p:nvPr>
        </p:nvSpPr>
        <p:spPr>
          <a:xfrm>
            <a:off x="812726" y="2475260"/>
            <a:ext cx="5232528" cy="787400"/>
          </a:xfrm>
          <a:prstGeom prst="rect">
            <a:avLst/>
          </a:prstGeom>
          <a:noFill/>
          <a:ln/>
        </p:spPr>
        <p:txBody>
          <a:bodyPr wrap="square" lIns="0" tIns="0" rIns="0" bIns="0" rtlCol="0" anchor="t">
            <a:normAutofit/>
          </a:bodyPr>
          <a:lstStyle/>
          <a:p>
            <a:pPr marL="0" indent="0" algn="l">
              <a:lnSpc>
                <a:spcPts val="6000"/>
              </a:lnSpc>
              <a:buNone/>
            </a:pPr>
            <a:r>
              <a:rPr lang="en-US" sz="6000" b="1" i="0" dirty="0">
                <a:solidFill>
                  <a:srgbClr val="FAF7EE"/>
                </a:solidFill>
                <a:latin typeface="Zilla Slab" pitchFamily="18" charset="0"/>
                <a:ea typeface="Zilla Slab" pitchFamily="18" charset="-122"/>
                <a:cs typeface="Zilla Slab" pitchFamily="18" charset="-120"/>
              </a:rPr>
              <a:t>PawConnect</a:t>
            </a:r>
            <a:endParaRPr lang="en-US" sz="6000" dirty="0"/>
          </a:p>
        </p:txBody>
      </p:sp>
      <p:sp>
        <p:nvSpPr>
          <p:cNvPr id="4" name="Text 2"/>
          <p:cNvSpPr/>
          <p:nvPr/>
        </p:nvSpPr>
        <p:spPr>
          <a:xfrm>
            <a:off x="812726" y="3440410"/>
            <a:ext cx="5232528"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EFE4C8"/>
                </a:solidFill>
                <a:latin typeface="Karla" pitchFamily="34" charset="0"/>
                <a:ea typeface="Karla" pitchFamily="34" charset="-122"/>
                <a:cs typeface="Karla" pitchFamily="34" charset="-120"/>
              </a:rPr>
              <a:t>Adoption, volunteering and donations for Hope &amp; Paws Animal Shelter</a:t>
            </a:r>
            <a:endParaRPr lang="en-US" sz="2200" dirty="0"/>
          </a:p>
        </p:txBody>
      </p:sp>
      <p:sp>
        <p:nvSpPr>
          <p:cNvPr id="5" name="Text 3"/>
          <p:cNvSpPr/>
          <p:nvPr/>
        </p:nvSpPr>
        <p:spPr>
          <a:xfrm>
            <a:off x="812726" y="4342061"/>
            <a:ext cx="5232528" cy="482550"/>
          </a:xfrm>
          <a:prstGeom prst="rect">
            <a:avLst/>
          </a:prstGeom>
          <a:noFill/>
          <a:ln/>
        </p:spPr>
        <p:txBody>
          <a:bodyPr wrap="square" lIns="0" tIns="0" rIns="0" bIns="0" rtlCol="0" anchor="t">
            <a:normAutofit/>
          </a:bodyPr>
          <a:lstStyle/>
          <a:p>
            <a:pPr marL="0" indent="0" algn="l">
              <a:lnSpc>
                <a:spcPts val="1800"/>
              </a:lnSpc>
              <a:buNone/>
            </a:pPr>
            <a:endParaRPr lang="en-US" sz="1200" dirty="0"/>
          </a:p>
        </p:txBody>
      </p:sp>
      <p:pic>
        <p:nvPicPr>
          <p:cNvPr id="6" name="Image 0" descr="PawConnect home page showing a featured animal and live shelter statistics"/>
          <p:cNvPicPr>
            <a:picLocks noChangeAspect="1"/>
          </p:cNvPicPr>
          <p:nvPr/>
        </p:nvPicPr>
        <p:blipFill>
          <a:blip r:embed="rId3"/>
          <a:srcRect t="303" b="303"/>
          <a:stretch/>
        </p:blipFill>
        <p:spPr>
          <a:xfrm>
            <a:off x="6324550" y="1866900"/>
            <a:ext cx="5029200" cy="3124200"/>
          </a:xfrm>
          <a:prstGeom prst="roundRect">
            <a:avLst>
              <a:gd name="adj" fmla="val 2439"/>
            </a:avLst>
          </a:prstGeom>
        </p:spPr>
      </p:pic>
      <p:sp>
        <p:nvSpPr>
          <p:cNvPr id="7" name="Shape 4"/>
          <p:cNvSpPr/>
          <p:nvPr/>
        </p:nvSpPr>
        <p:spPr>
          <a:xfrm>
            <a:off x="6311850" y="1854200"/>
            <a:ext cx="5054600" cy="3149600"/>
          </a:xfrm>
          <a:prstGeom prst="roundRect">
            <a:avLst>
              <a:gd name="adj" fmla="val 2823"/>
            </a:avLst>
          </a:prstGeom>
          <a:noFill/>
          <a:ln w="25400">
            <a:solidFill>
              <a:srgbClr val="E8A33D"/>
            </a:solidFill>
            <a:prstDash val="solid"/>
          </a:ln>
        </p:spPr>
        <p:txBody>
          <a:bodyPr/>
          <a:lstStyle/>
          <a:p>
            <a:endParaRPr lang="en-Z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THE CLIENT'S PROBLEM</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Four problems, four fixes</a:t>
            </a:r>
            <a:endParaRPr lang="en-US" sz="3600" dirty="0"/>
          </a:p>
        </p:txBody>
      </p:sp>
      <p:sp>
        <p:nvSpPr>
          <p:cNvPr id="4" name="Shape 2"/>
          <p:cNvSpPr/>
          <p:nvPr/>
        </p:nvSpPr>
        <p:spPr>
          <a:xfrm>
            <a:off x="815901" y="1887463"/>
            <a:ext cx="5175349" cy="1858218"/>
          </a:xfrm>
          <a:prstGeom prst="roundRect">
            <a:avLst>
              <a:gd name="adj" fmla="val 5297"/>
            </a:avLst>
          </a:prstGeom>
          <a:solidFill>
            <a:srgbClr val="FFFDF7"/>
          </a:solidFill>
          <a:ln w="6350">
            <a:solidFill>
              <a:srgbClr val="E3DCC6"/>
            </a:solidFill>
            <a:prstDash val="solid"/>
          </a:ln>
        </p:spPr>
        <p:txBody>
          <a:bodyPr/>
          <a:lstStyle/>
          <a:p>
            <a:endParaRPr lang="en-ZA"/>
          </a:p>
        </p:txBody>
      </p:sp>
      <p:pic>
        <p:nvPicPr>
          <p:cNvPr id="5" name="Image 0" descr="Search"/>
          <p:cNvPicPr>
            <a:picLocks noChangeAspect="1"/>
          </p:cNvPicPr>
          <p:nvPr/>
        </p:nvPicPr>
        <p:blipFill>
          <a:blip r:embed="rId3"/>
          <a:srcRect/>
          <a:stretch/>
        </p:blipFill>
        <p:spPr>
          <a:xfrm>
            <a:off x="1074663" y="2146226"/>
            <a:ext cx="304726" cy="304726"/>
          </a:xfrm>
          <a:prstGeom prst="rect">
            <a:avLst/>
          </a:prstGeom>
        </p:spPr>
      </p:pic>
      <p:sp>
        <p:nvSpPr>
          <p:cNvPr id="6" name="Text 3"/>
          <p:cNvSpPr/>
          <p:nvPr/>
        </p:nvSpPr>
        <p:spPr>
          <a:xfrm>
            <a:off x="1074663" y="2527102"/>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3A2E"/>
                </a:solidFill>
                <a:latin typeface="Zilla Slab" pitchFamily="18" charset="0"/>
                <a:ea typeface="Zilla Slab" pitchFamily="18" charset="-122"/>
                <a:cs typeface="Zilla Slab" pitchFamily="18" charset="-120"/>
              </a:rPr>
              <a:t>Live adoption listing</a:t>
            </a:r>
            <a:endParaRPr lang="en-US" sz="2200" dirty="0"/>
          </a:p>
        </p:txBody>
      </p:sp>
      <p:sp>
        <p:nvSpPr>
          <p:cNvPr id="7" name="Text 4"/>
          <p:cNvSpPr/>
          <p:nvPr/>
        </p:nvSpPr>
        <p:spPr>
          <a:xfrm>
            <a:off x="1074663" y="2938487"/>
            <a:ext cx="479755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B5648"/>
                </a:solidFill>
                <a:latin typeface="Karla" pitchFamily="34" charset="0"/>
                <a:ea typeface="Karla" pitchFamily="34" charset="-122"/>
                <a:cs typeface="Karla" pitchFamily="34" charset="-120"/>
              </a:rPr>
              <a:t>Was: visit in person or message Facebook. Now: filter by species, size, kids and pets.</a:t>
            </a:r>
            <a:endParaRPr lang="en-US" sz="1600" dirty="0"/>
          </a:p>
        </p:txBody>
      </p:sp>
      <p:sp>
        <p:nvSpPr>
          <p:cNvPr id="8" name="Shape 5"/>
          <p:cNvSpPr/>
          <p:nvPr/>
        </p:nvSpPr>
        <p:spPr>
          <a:xfrm>
            <a:off x="6200750" y="1887463"/>
            <a:ext cx="5175349" cy="1858218"/>
          </a:xfrm>
          <a:prstGeom prst="roundRect">
            <a:avLst>
              <a:gd name="adj" fmla="val 5297"/>
            </a:avLst>
          </a:prstGeom>
          <a:solidFill>
            <a:srgbClr val="FFFDF7"/>
          </a:solidFill>
          <a:ln w="6350">
            <a:solidFill>
              <a:srgbClr val="E3DCC6"/>
            </a:solidFill>
            <a:prstDash val="solid"/>
          </a:ln>
        </p:spPr>
        <p:txBody>
          <a:bodyPr/>
          <a:lstStyle/>
          <a:p>
            <a:endParaRPr lang="en-ZA"/>
          </a:p>
        </p:txBody>
      </p:sp>
      <p:pic>
        <p:nvPicPr>
          <p:cNvPr id="9" name="Image 1" descr="CheckCircle"/>
          <p:cNvPicPr>
            <a:picLocks noChangeAspect="1"/>
          </p:cNvPicPr>
          <p:nvPr/>
        </p:nvPicPr>
        <p:blipFill>
          <a:blip r:embed="rId4"/>
          <a:srcRect/>
          <a:stretch/>
        </p:blipFill>
        <p:spPr>
          <a:xfrm>
            <a:off x="6459513" y="2146226"/>
            <a:ext cx="304726" cy="304726"/>
          </a:xfrm>
          <a:prstGeom prst="rect">
            <a:avLst/>
          </a:prstGeom>
        </p:spPr>
      </p:pic>
      <p:sp>
        <p:nvSpPr>
          <p:cNvPr id="10" name="Text 6"/>
          <p:cNvSpPr/>
          <p:nvPr/>
        </p:nvSpPr>
        <p:spPr>
          <a:xfrm>
            <a:off x="6459513" y="2527102"/>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3A2E"/>
                </a:solidFill>
                <a:latin typeface="Zilla Slab" pitchFamily="18" charset="0"/>
                <a:ea typeface="Zilla Slab" pitchFamily="18" charset="-122"/>
                <a:cs typeface="Zilla Slab" pitchFamily="18" charset="-120"/>
              </a:rPr>
              <a:t>Online applications</a:t>
            </a:r>
            <a:endParaRPr lang="en-US" sz="2200" dirty="0"/>
          </a:p>
        </p:txBody>
      </p:sp>
      <p:sp>
        <p:nvSpPr>
          <p:cNvPr id="11" name="Text 7"/>
          <p:cNvSpPr/>
          <p:nvPr/>
        </p:nvSpPr>
        <p:spPr>
          <a:xfrm>
            <a:off x="6459513" y="2938487"/>
            <a:ext cx="479755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B5648"/>
                </a:solidFill>
                <a:latin typeface="Karla" pitchFamily="34" charset="0"/>
                <a:ea typeface="Karla" pitchFamily="34" charset="-122"/>
                <a:cs typeface="Karla" pitchFamily="34" charset="-120"/>
              </a:rPr>
              <a:t>Was: paper forms retyped into a spreadsheet. Now: submit, review and track online.</a:t>
            </a:r>
            <a:endParaRPr lang="en-US" sz="1600" dirty="0"/>
          </a:p>
        </p:txBody>
      </p:sp>
      <p:sp>
        <p:nvSpPr>
          <p:cNvPr id="12" name="Shape 8"/>
          <p:cNvSpPr/>
          <p:nvPr/>
        </p:nvSpPr>
        <p:spPr>
          <a:xfrm>
            <a:off x="815901" y="3955182"/>
            <a:ext cx="5175349" cy="1858218"/>
          </a:xfrm>
          <a:prstGeom prst="roundRect">
            <a:avLst>
              <a:gd name="adj" fmla="val 5297"/>
            </a:avLst>
          </a:prstGeom>
          <a:solidFill>
            <a:srgbClr val="FFFDF7"/>
          </a:solidFill>
          <a:ln w="6350">
            <a:solidFill>
              <a:srgbClr val="E3DCC6"/>
            </a:solidFill>
            <a:prstDash val="solid"/>
          </a:ln>
        </p:spPr>
        <p:txBody>
          <a:bodyPr/>
          <a:lstStyle/>
          <a:p>
            <a:endParaRPr lang="en-ZA"/>
          </a:p>
        </p:txBody>
      </p:sp>
      <p:pic>
        <p:nvPicPr>
          <p:cNvPr id="13" name="Image 2" descr="Activity"/>
          <p:cNvPicPr>
            <a:picLocks noChangeAspect="1"/>
          </p:cNvPicPr>
          <p:nvPr/>
        </p:nvPicPr>
        <p:blipFill>
          <a:blip r:embed="rId5"/>
          <a:srcRect/>
          <a:stretch/>
        </p:blipFill>
        <p:spPr>
          <a:xfrm>
            <a:off x="1074663" y="4213944"/>
            <a:ext cx="304726" cy="304726"/>
          </a:xfrm>
          <a:prstGeom prst="rect">
            <a:avLst/>
          </a:prstGeom>
        </p:spPr>
      </p:pic>
      <p:sp>
        <p:nvSpPr>
          <p:cNvPr id="14" name="Text 9"/>
          <p:cNvSpPr/>
          <p:nvPr/>
        </p:nvSpPr>
        <p:spPr>
          <a:xfrm>
            <a:off x="1074663" y="4594820"/>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3A2E"/>
                </a:solidFill>
                <a:latin typeface="Zilla Slab" pitchFamily="18" charset="0"/>
                <a:ea typeface="Zilla Slab" pitchFamily="18" charset="-122"/>
                <a:cs typeface="Zilla Slab" pitchFamily="18" charset="-120"/>
              </a:rPr>
              <a:t>Digital medical history</a:t>
            </a:r>
            <a:endParaRPr lang="en-US" sz="2200" dirty="0"/>
          </a:p>
        </p:txBody>
      </p:sp>
      <p:sp>
        <p:nvSpPr>
          <p:cNvPr id="15" name="Text 10"/>
          <p:cNvSpPr/>
          <p:nvPr/>
        </p:nvSpPr>
        <p:spPr>
          <a:xfrm>
            <a:off x="1074663" y="5006206"/>
            <a:ext cx="479755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B5648"/>
                </a:solidFill>
                <a:latin typeface="Karla" pitchFamily="34" charset="0"/>
                <a:ea typeface="Karla" pitchFamily="34" charset="-122"/>
                <a:cs typeface="Karla" pitchFamily="34" charset="-120"/>
              </a:rPr>
              <a:t>Was: a paper card in the kennel file. Now: searchable records the vet can check remotely.</a:t>
            </a:r>
            <a:endParaRPr lang="en-US" sz="1600" dirty="0"/>
          </a:p>
        </p:txBody>
      </p:sp>
      <p:sp>
        <p:nvSpPr>
          <p:cNvPr id="16" name="Shape 11"/>
          <p:cNvSpPr/>
          <p:nvPr/>
        </p:nvSpPr>
        <p:spPr>
          <a:xfrm>
            <a:off x="6200750" y="3955182"/>
            <a:ext cx="5175349" cy="1858218"/>
          </a:xfrm>
          <a:prstGeom prst="roundRect">
            <a:avLst>
              <a:gd name="adj" fmla="val 5297"/>
            </a:avLst>
          </a:prstGeom>
          <a:solidFill>
            <a:srgbClr val="FFFDF7"/>
          </a:solidFill>
          <a:ln w="6350">
            <a:solidFill>
              <a:srgbClr val="E3DCC6"/>
            </a:solidFill>
            <a:prstDash val="solid"/>
          </a:ln>
        </p:spPr>
        <p:txBody>
          <a:bodyPr/>
          <a:lstStyle/>
          <a:p>
            <a:endParaRPr lang="en-ZA"/>
          </a:p>
        </p:txBody>
      </p:sp>
      <p:pic>
        <p:nvPicPr>
          <p:cNvPr id="17" name="Image 3" descr="Clock"/>
          <p:cNvPicPr>
            <a:picLocks noChangeAspect="1"/>
          </p:cNvPicPr>
          <p:nvPr/>
        </p:nvPicPr>
        <p:blipFill>
          <a:blip r:embed="rId6"/>
          <a:srcRect/>
          <a:stretch/>
        </p:blipFill>
        <p:spPr>
          <a:xfrm>
            <a:off x="6459513" y="4213944"/>
            <a:ext cx="304726" cy="304726"/>
          </a:xfrm>
          <a:prstGeom prst="rect">
            <a:avLst/>
          </a:prstGeom>
        </p:spPr>
      </p:pic>
      <p:sp>
        <p:nvSpPr>
          <p:cNvPr id="18" name="Text 12"/>
          <p:cNvSpPr/>
          <p:nvPr/>
        </p:nvSpPr>
        <p:spPr>
          <a:xfrm>
            <a:off x="6459513" y="4594820"/>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3A2E"/>
                </a:solidFill>
                <a:latin typeface="Zilla Slab" pitchFamily="18" charset="0"/>
                <a:ea typeface="Zilla Slab" pitchFamily="18" charset="-122"/>
                <a:cs typeface="Zilla Slab" pitchFamily="18" charset="-120"/>
              </a:rPr>
              <a:t>A roster that can't double book</a:t>
            </a:r>
            <a:endParaRPr lang="en-US" sz="2200" dirty="0"/>
          </a:p>
        </p:txBody>
      </p:sp>
      <p:sp>
        <p:nvSpPr>
          <p:cNvPr id="19" name="Text 13"/>
          <p:cNvSpPr/>
          <p:nvPr/>
        </p:nvSpPr>
        <p:spPr>
          <a:xfrm>
            <a:off x="6459513" y="5006206"/>
            <a:ext cx="479755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B5648"/>
                </a:solidFill>
                <a:latin typeface="Karla" pitchFamily="34" charset="0"/>
                <a:ea typeface="Karla" pitchFamily="34" charset="-122"/>
                <a:cs typeface="Karla" pitchFamily="34" charset="-120"/>
              </a:rPr>
              <a:t>Was: a WhatsApp group. Now: shift sign up with capacity and clash checks.</a:t>
            </a:r>
            <a:endParaRPr lang="en-US" sz="1600" dirty="0"/>
          </a:p>
        </p:txBody>
      </p:sp>
      <p:sp>
        <p:nvSpPr>
          <p:cNvPr id="20" name="Text 14"/>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2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8A33D"/>
                </a:solidFill>
                <a:latin typeface="Space Mono" pitchFamily="49" charset="0"/>
                <a:ea typeface="Space Mono" pitchFamily="49" charset="-122"/>
                <a:cs typeface="Space Mono" pitchFamily="49" charset="-120"/>
              </a:rPr>
              <a:t>LIVE DEMO</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AF7EE"/>
                </a:solidFill>
                <a:latin typeface="Zilla Slab" pitchFamily="18" charset="0"/>
                <a:ea typeface="Zilla Slab" pitchFamily="18" charset="-122"/>
                <a:cs typeface="Zilla Slab" pitchFamily="18" charset="-120"/>
              </a:rPr>
              <a:t>One adoption, end to end</a:t>
            </a:r>
            <a:endParaRPr lang="en-US" sz="3600" dirty="0"/>
          </a:p>
        </p:txBody>
      </p:sp>
      <p:sp>
        <p:nvSpPr>
          <p:cNvPr id="4" name="Shape 2"/>
          <p:cNvSpPr/>
          <p:nvPr/>
        </p:nvSpPr>
        <p:spPr>
          <a:xfrm>
            <a:off x="812726" y="1884288"/>
            <a:ext cx="3386708" cy="2397249"/>
          </a:xfrm>
          <a:prstGeom prst="roundRect">
            <a:avLst>
              <a:gd name="adj" fmla="val 4238"/>
            </a:avLst>
          </a:prstGeom>
          <a:solidFill>
            <a:srgbClr val="2A4A3A"/>
          </a:solidFill>
          <a:ln/>
        </p:spPr>
        <p:txBody>
          <a:bodyPr/>
          <a:lstStyle/>
          <a:p>
            <a:endParaRPr lang="en-ZA"/>
          </a:p>
        </p:txBody>
      </p:sp>
      <p:sp>
        <p:nvSpPr>
          <p:cNvPr id="5" name="Text 3"/>
          <p:cNvSpPr/>
          <p:nvPr/>
        </p:nvSpPr>
        <p:spPr>
          <a:xfrm>
            <a:off x="1066726" y="2138288"/>
            <a:ext cx="296506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A33D"/>
                </a:solidFill>
                <a:latin typeface="Space Mono" pitchFamily="49" charset="0"/>
                <a:ea typeface="Space Mono" pitchFamily="49" charset="-122"/>
                <a:cs typeface="Space Mono" pitchFamily="49" charset="-120"/>
              </a:rPr>
              <a:t>1 · ADOPTER</a:t>
            </a:r>
            <a:endParaRPr lang="en-US" sz="1200" dirty="0"/>
          </a:p>
        </p:txBody>
      </p:sp>
      <p:sp>
        <p:nvSpPr>
          <p:cNvPr id="6" name="Text 4"/>
          <p:cNvSpPr/>
          <p:nvPr/>
        </p:nvSpPr>
        <p:spPr>
          <a:xfrm>
            <a:off x="1066726" y="2453184"/>
            <a:ext cx="296506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AF7EE"/>
                </a:solidFill>
                <a:latin typeface="Zilla Slab" pitchFamily="18" charset="0"/>
                <a:ea typeface="Zilla Slab" pitchFamily="18" charset="-122"/>
                <a:cs typeface="Zilla Slab" pitchFamily="18" charset="-120"/>
              </a:rPr>
              <a:t>Find and apply</a:t>
            </a:r>
            <a:endParaRPr lang="en-US" sz="2200" dirty="0"/>
          </a:p>
        </p:txBody>
      </p:sp>
      <p:sp>
        <p:nvSpPr>
          <p:cNvPr id="7" name="Text 5"/>
          <p:cNvSpPr/>
          <p:nvPr/>
        </p:nvSpPr>
        <p:spPr>
          <a:xfrm>
            <a:off x="1066726" y="2889994"/>
            <a:ext cx="2965069" cy="1162943"/>
          </a:xfrm>
          <a:prstGeom prst="rect">
            <a:avLst/>
          </a:prstGeom>
          <a:noFill/>
          <a:ln/>
        </p:spPr>
        <p:txBody>
          <a:bodyPr wrap="square" lIns="0" tIns="0" rIns="0" bIns="0" rtlCol="0" anchor="t">
            <a:normAutofit/>
          </a:bodyPr>
          <a:lstStyle/>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Register with POPIA consent</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Filter animals live</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3 step form, autosaved</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Track status and donate</a:t>
            </a:r>
            <a:endParaRPr lang="en-US" sz="1600" dirty="0"/>
          </a:p>
        </p:txBody>
      </p:sp>
      <p:sp>
        <p:nvSpPr>
          <p:cNvPr id="8" name="Shape 6"/>
          <p:cNvSpPr/>
          <p:nvPr/>
        </p:nvSpPr>
        <p:spPr>
          <a:xfrm>
            <a:off x="4402584" y="1884288"/>
            <a:ext cx="3386708" cy="2397249"/>
          </a:xfrm>
          <a:prstGeom prst="roundRect">
            <a:avLst>
              <a:gd name="adj" fmla="val 4238"/>
            </a:avLst>
          </a:prstGeom>
          <a:solidFill>
            <a:srgbClr val="2A4A3A"/>
          </a:solidFill>
          <a:ln/>
        </p:spPr>
        <p:txBody>
          <a:bodyPr/>
          <a:lstStyle/>
          <a:p>
            <a:endParaRPr lang="en-ZA"/>
          </a:p>
        </p:txBody>
      </p:sp>
      <p:sp>
        <p:nvSpPr>
          <p:cNvPr id="9" name="Text 7"/>
          <p:cNvSpPr/>
          <p:nvPr/>
        </p:nvSpPr>
        <p:spPr>
          <a:xfrm>
            <a:off x="4656584" y="2138288"/>
            <a:ext cx="296506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A33D"/>
                </a:solidFill>
                <a:latin typeface="Space Mono" pitchFamily="49" charset="0"/>
                <a:ea typeface="Space Mono" pitchFamily="49" charset="-122"/>
                <a:cs typeface="Space Mono" pitchFamily="49" charset="-120"/>
              </a:rPr>
              <a:t>2 · VOLUNTEER</a:t>
            </a:r>
            <a:endParaRPr lang="en-US" sz="1200" dirty="0"/>
          </a:p>
        </p:txBody>
      </p:sp>
      <p:sp>
        <p:nvSpPr>
          <p:cNvPr id="10" name="Text 8"/>
          <p:cNvSpPr/>
          <p:nvPr/>
        </p:nvSpPr>
        <p:spPr>
          <a:xfrm>
            <a:off x="4656584" y="2453184"/>
            <a:ext cx="296506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AF7EE"/>
                </a:solidFill>
                <a:latin typeface="Zilla Slab" pitchFamily="18" charset="0"/>
                <a:ea typeface="Zilla Slab" pitchFamily="18" charset="-122"/>
                <a:cs typeface="Zilla Slab" pitchFamily="18" charset="-120"/>
              </a:rPr>
              <a:t>Review and care</a:t>
            </a:r>
            <a:endParaRPr lang="en-US" sz="2200" dirty="0"/>
          </a:p>
        </p:txBody>
      </p:sp>
      <p:sp>
        <p:nvSpPr>
          <p:cNvPr id="11" name="Text 9"/>
          <p:cNvSpPr/>
          <p:nvPr/>
        </p:nvSpPr>
        <p:spPr>
          <a:xfrm>
            <a:off x="4656584" y="2889994"/>
            <a:ext cx="2965069" cy="1162943"/>
          </a:xfrm>
          <a:prstGeom prst="rect">
            <a:avLst/>
          </a:prstGeom>
          <a:noFill/>
          <a:ln/>
        </p:spPr>
        <p:txBody>
          <a:bodyPr wrap="square" lIns="0" tIns="0" rIns="0" bIns="0" rtlCol="0" anchor="t">
            <a:normAutofit/>
          </a:bodyPr>
          <a:lstStyle/>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Start review and approve</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Log a vaccination</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Sign up for a shift</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Log hours</a:t>
            </a:r>
            <a:endParaRPr lang="en-US" sz="1600" dirty="0"/>
          </a:p>
        </p:txBody>
      </p:sp>
      <p:sp>
        <p:nvSpPr>
          <p:cNvPr id="12" name="Shape 10"/>
          <p:cNvSpPr/>
          <p:nvPr/>
        </p:nvSpPr>
        <p:spPr>
          <a:xfrm>
            <a:off x="7992442" y="1884288"/>
            <a:ext cx="3386832" cy="2397249"/>
          </a:xfrm>
          <a:prstGeom prst="roundRect">
            <a:avLst>
              <a:gd name="adj" fmla="val 4238"/>
            </a:avLst>
          </a:prstGeom>
          <a:solidFill>
            <a:srgbClr val="2A4A3A"/>
          </a:solidFill>
          <a:ln/>
        </p:spPr>
        <p:txBody>
          <a:bodyPr/>
          <a:lstStyle/>
          <a:p>
            <a:endParaRPr lang="en-ZA"/>
          </a:p>
        </p:txBody>
      </p:sp>
      <p:sp>
        <p:nvSpPr>
          <p:cNvPr id="13" name="Text 11"/>
          <p:cNvSpPr/>
          <p:nvPr/>
        </p:nvSpPr>
        <p:spPr>
          <a:xfrm>
            <a:off x="8246442" y="2138288"/>
            <a:ext cx="29651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A33D"/>
                </a:solidFill>
                <a:latin typeface="Space Mono" pitchFamily="49" charset="0"/>
                <a:ea typeface="Space Mono" pitchFamily="49" charset="-122"/>
                <a:cs typeface="Space Mono" pitchFamily="49" charset="-120"/>
              </a:rPr>
              <a:t>3 · ADMIN</a:t>
            </a:r>
            <a:endParaRPr lang="en-US" sz="1200" dirty="0"/>
          </a:p>
        </p:txBody>
      </p:sp>
      <p:sp>
        <p:nvSpPr>
          <p:cNvPr id="14" name="Text 12"/>
          <p:cNvSpPr/>
          <p:nvPr/>
        </p:nvSpPr>
        <p:spPr>
          <a:xfrm>
            <a:off x="8246442" y="2453184"/>
            <a:ext cx="2965197"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AF7EE"/>
                </a:solidFill>
                <a:latin typeface="Zilla Slab" pitchFamily="18" charset="0"/>
                <a:ea typeface="Zilla Slab" pitchFamily="18" charset="-122"/>
                <a:cs typeface="Zilla Slab" pitchFamily="18" charset="-120"/>
              </a:rPr>
              <a:t>Complete and report</a:t>
            </a:r>
            <a:endParaRPr lang="en-US" sz="2200" dirty="0"/>
          </a:p>
        </p:txBody>
      </p:sp>
      <p:sp>
        <p:nvSpPr>
          <p:cNvPr id="15" name="Text 13"/>
          <p:cNvSpPr/>
          <p:nvPr/>
        </p:nvSpPr>
        <p:spPr>
          <a:xfrm>
            <a:off x="8246442" y="2889994"/>
            <a:ext cx="2965197" cy="1162943"/>
          </a:xfrm>
          <a:prstGeom prst="rect">
            <a:avLst/>
          </a:prstGeom>
          <a:noFill/>
          <a:ln/>
        </p:spPr>
        <p:txBody>
          <a:bodyPr wrap="square" lIns="0" tIns="0" rIns="0" bIns="0" rtlCol="0" anchor="t">
            <a:normAutofit/>
          </a:bodyPr>
          <a:lstStyle/>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Home visit and fee</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Mark as adopted</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Confirm donations</a:t>
            </a:r>
            <a:endParaRPr lang="en-US" sz="1600" dirty="0"/>
          </a:p>
          <a:p>
            <a:pPr marL="243840" indent="-177292" algn="l">
              <a:lnSpc>
                <a:spcPts val="2240"/>
              </a:lnSpc>
              <a:buSzPct val="100000"/>
              <a:buChar char="•"/>
            </a:pPr>
            <a:r>
              <a:rPr lang="en-US" sz="1600" dirty="0">
                <a:solidFill>
                  <a:srgbClr val="EFE4C8"/>
                </a:solidFill>
                <a:latin typeface="Karla" pitchFamily="34" charset="0"/>
                <a:ea typeface="Karla" pitchFamily="34" charset="-122"/>
                <a:cs typeface="Karla" pitchFamily="34" charset="-120"/>
              </a:rPr>
              <a:t>Export funder CSV</a:t>
            </a:r>
            <a:endParaRPr lang="en-US" sz="1600" dirty="0"/>
          </a:p>
        </p:txBody>
      </p:sp>
      <p:sp>
        <p:nvSpPr>
          <p:cNvPr id="16" name="Text 14"/>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6CE"/>
                </a:solidFill>
                <a:latin typeface="Karla" pitchFamily="34" charset="0"/>
                <a:ea typeface="Karla" pitchFamily="34" charset="-122"/>
                <a:cs typeface="Karla" pitchFamily="34" charset="-120"/>
              </a:rPr>
              <a:t>PawConnect · Task 2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FRONT END · PUBLIC SITE</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Built for phones and screen readers</a:t>
            </a:r>
            <a:endParaRPr lang="en-US" sz="3600" dirty="0"/>
          </a:p>
        </p:txBody>
      </p:sp>
      <p:sp>
        <p:nvSpPr>
          <p:cNvPr id="4" name="Shape 2"/>
          <p:cNvSpPr/>
          <p:nvPr/>
        </p:nvSpPr>
        <p:spPr>
          <a:xfrm>
            <a:off x="812726" y="1833563"/>
            <a:ext cx="5588000" cy="3492500"/>
          </a:xfrm>
          <a:prstGeom prst="roundRect">
            <a:avLst>
              <a:gd name="adj" fmla="val 2182"/>
            </a:avLst>
          </a:prstGeom>
          <a:solidFill>
            <a:srgbClr val="EFE4C8"/>
          </a:solidFill>
          <a:ln/>
        </p:spPr>
        <p:txBody>
          <a:bodyPr/>
          <a:lstStyle/>
          <a:p>
            <a:endParaRPr lang="en-ZA"/>
          </a:p>
        </p:txBody>
      </p:sp>
      <p:pic>
        <p:nvPicPr>
          <p:cNvPr id="5" name="Image 0" descr="Browse page filtered to cats, showing animal cards with traits"/>
          <p:cNvPicPr>
            <a:picLocks noChangeAspect="1"/>
          </p:cNvPicPr>
          <p:nvPr/>
        </p:nvPicPr>
        <p:blipFill>
          <a:blip r:embed="rId3"/>
          <a:srcRect/>
          <a:stretch/>
        </p:blipFill>
        <p:spPr>
          <a:xfrm>
            <a:off x="812726" y="1833563"/>
            <a:ext cx="5588000" cy="3492500"/>
          </a:xfrm>
          <a:prstGeom prst="roundRect">
            <a:avLst>
              <a:gd name="adj" fmla="val 2182"/>
            </a:avLst>
          </a:prstGeom>
        </p:spPr>
      </p:pic>
      <p:sp>
        <p:nvSpPr>
          <p:cNvPr id="6" name="Shape 3"/>
          <p:cNvSpPr/>
          <p:nvPr/>
        </p:nvSpPr>
        <p:spPr>
          <a:xfrm>
            <a:off x="6603876" y="1833563"/>
            <a:ext cx="1612801" cy="3492500"/>
          </a:xfrm>
          <a:prstGeom prst="roundRect">
            <a:avLst>
              <a:gd name="adj" fmla="val 4725"/>
            </a:avLst>
          </a:prstGeom>
          <a:solidFill>
            <a:srgbClr val="EFE4C8"/>
          </a:solidFill>
          <a:ln/>
        </p:spPr>
        <p:txBody>
          <a:bodyPr/>
          <a:lstStyle/>
          <a:p>
            <a:endParaRPr lang="en-ZA"/>
          </a:p>
        </p:txBody>
      </p:sp>
      <p:pic>
        <p:nvPicPr>
          <p:cNvPr id="7" name="Image 1" descr="Browse page on a phone, single-column layout"/>
          <p:cNvPicPr>
            <a:picLocks noChangeAspect="1"/>
          </p:cNvPicPr>
          <p:nvPr/>
        </p:nvPicPr>
        <p:blipFill>
          <a:blip r:embed="rId4"/>
          <a:srcRect t="-32" b="-32"/>
          <a:stretch/>
        </p:blipFill>
        <p:spPr>
          <a:xfrm>
            <a:off x="6603876" y="1833563"/>
            <a:ext cx="1612801" cy="3492500"/>
          </a:xfrm>
          <a:prstGeom prst="roundRect">
            <a:avLst>
              <a:gd name="adj" fmla="val 4725"/>
            </a:avLst>
          </a:prstGeom>
        </p:spPr>
      </p:pic>
      <p:sp>
        <p:nvSpPr>
          <p:cNvPr id="8" name="Text 4"/>
          <p:cNvSpPr/>
          <p:nvPr/>
        </p:nvSpPr>
        <p:spPr>
          <a:xfrm>
            <a:off x="8419827" y="1833563"/>
            <a:ext cx="3048231" cy="553492"/>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262420"/>
                </a:solidFill>
                <a:latin typeface="Karla" pitchFamily="34" charset="0"/>
                <a:ea typeface="Karla" pitchFamily="34" charset="-122"/>
                <a:cs typeface="Karla" pitchFamily="34" charset="-120"/>
              </a:rPr>
              <a:t>Live filters</a:t>
            </a:r>
            <a:r>
              <a:rPr lang="en-US" sz="1600" dirty="0">
                <a:solidFill>
                  <a:srgbClr val="262420"/>
                </a:solidFill>
                <a:latin typeface="Karla" pitchFamily="34" charset="0"/>
                <a:ea typeface="Karla" pitchFamily="34" charset="-122"/>
                <a:cs typeface="Karla" pitchFamily="34" charset="-120"/>
              </a:rPr>
              <a:t> call GET /api/animals</a:t>
            </a:r>
            <a:endParaRPr lang="en-US" sz="1600" dirty="0"/>
          </a:p>
        </p:txBody>
      </p:sp>
      <p:sp>
        <p:nvSpPr>
          <p:cNvPr id="9" name="Text 5"/>
          <p:cNvSpPr/>
          <p:nvPr/>
        </p:nvSpPr>
        <p:spPr>
          <a:xfrm>
            <a:off x="8419827" y="2513955"/>
            <a:ext cx="3048231" cy="553492"/>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262420"/>
                </a:solidFill>
                <a:latin typeface="Karla" pitchFamily="34" charset="0"/>
                <a:ea typeface="Karla" pitchFamily="34" charset="-122"/>
                <a:cs typeface="Karla" pitchFamily="34" charset="-120"/>
              </a:rPr>
              <a:t>Clear feedback</a:t>
            </a:r>
            <a:r>
              <a:rPr lang="en-US" sz="1600" dirty="0">
                <a:solidFill>
                  <a:srgbClr val="262420"/>
                </a:solidFill>
                <a:latin typeface="Karla" pitchFamily="34" charset="0"/>
                <a:ea typeface="Karla" pitchFamily="34" charset="-122"/>
                <a:cs typeface="Karla" pitchFamily="34" charset="-120"/>
              </a:rPr>
              <a:t>: spinners, alerts and confirmations</a:t>
            </a:r>
            <a:endParaRPr lang="en-US" sz="1600" dirty="0"/>
          </a:p>
        </p:txBody>
      </p:sp>
      <p:sp>
        <p:nvSpPr>
          <p:cNvPr id="10" name="Text 6"/>
          <p:cNvSpPr/>
          <p:nvPr/>
        </p:nvSpPr>
        <p:spPr>
          <a:xfrm>
            <a:off x="8419827" y="3194348"/>
            <a:ext cx="3048231" cy="289446"/>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262420"/>
                </a:solidFill>
                <a:latin typeface="Karla" pitchFamily="34" charset="0"/>
                <a:ea typeface="Karla" pitchFamily="34" charset="-122"/>
                <a:cs typeface="Karla" pitchFamily="34" charset="-120"/>
              </a:rPr>
              <a:t>0 violations</a:t>
            </a:r>
            <a:r>
              <a:rPr lang="en-US" sz="1600" dirty="0">
                <a:solidFill>
                  <a:srgbClr val="262420"/>
                </a:solidFill>
                <a:latin typeface="Karla" pitchFamily="34" charset="0"/>
                <a:ea typeface="Karla" pitchFamily="34" charset="-122"/>
                <a:cs typeface="Karla" pitchFamily="34" charset="-120"/>
              </a:rPr>
              <a:t> of WCAG 2.1 AA</a:t>
            </a:r>
            <a:endParaRPr lang="en-US" sz="1600" dirty="0"/>
          </a:p>
        </p:txBody>
      </p:sp>
      <p:sp>
        <p:nvSpPr>
          <p:cNvPr id="11" name="Text 7"/>
          <p:cNvSpPr/>
          <p:nvPr/>
        </p:nvSpPr>
        <p:spPr>
          <a:xfrm>
            <a:off x="8419827" y="3610694"/>
            <a:ext cx="3048231" cy="289446"/>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262420"/>
                </a:solidFill>
                <a:latin typeface="Karla" pitchFamily="34" charset="0"/>
                <a:ea typeface="Karla" pitchFamily="34" charset="-122"/>
                <a:cs typeface="Karla" pitchFamily="34" charset="-120"/>
              </a:rPr>
              <a:t>Works without</a:t>
            </a:r>
            <a:r>
              <a:rPr lang="en-US" sz="1600" dirty="0">
                <a:solidFill>
                  <a:srgbClr val="262420"/>
                </a:solidFill>
                <a:latin typeface="Karla" pitchFamily="34" charset="0"/>
                <a:ea typeface="Karla" pitchFamily="34" charset="-122"/>
                <a:cs typeface="Karla" pitchFamily="34" charset="-120"/>
              </a:rPr>
              <a:t> JavaScript</a:t>
            </a:r>
            <a:endParaRPr lang="en-US" sz="1600" dirty="0"/>
          </a:p>
        </p:txBody>
      </p:sp>
      <p:sp>
        <p:nvSpPr>
          <p:cNvPr id="12" name="Text 8"/>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FRONT END · VOLUNTEERS</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Everything a shift needs</a:t>
            </a:r>
            <a:endParaRPr lang="en-US" sz="3600" dirty="0"/>
          </a:p>
        </p:txBody>
      </p:sp>
      <p:sp>
        <p:nvSpPr>
          <p:cNvPr id="4" name="Shape 2"/>
          <p:cNvSpPr/>
          <p:nvPr/>
        </p:nvSpPr>
        <p:spPr>
          <a:xfrm>
            <a:off x="812726" y="1833563"/>
            <a:ext cx="5181575" cy="3238500"/>
          </a:xfrm>
          <a:prstGeom prst="roundRect">
            <a:avLst>
              <a:gd name="adj" fmla="val 2353"/>
            </a:avLst>
          </a:prstGeom>
          <a:solidFill>
            <a:srgbClr val="EFE4C8"/>
          </a:solidFill>
          <a:ln/>
        </p:spPr>
        <p:txBody>
          <a:bodyPr/>
          <a:lstStyle/>
          <a:p>
            <a:endParaRPr lang="en-ZA"/>
          </a:p>
        </p:txBody>
      </p:sp>
      <p:pic>
        <p:nvPicPr>
          <p:cNvPr id="5" name="Image 0" descr="Volunteer dashboard with applications to review, upcoming shifts and hour logging"/>
          <p:cNvPicPr>
            <a:picLocks noChangeAspect="1"/>
          </p:cNvPicPr>
          <p:nvPr/>
        </p:nvPicPr>
        <p:blipFill>
          <a:blip r:embed="rId3"/>
          <a:srcRect/>
          <a:stretch/>
        </p:blipFill>
        <p:spPr>
          <a:xfrm>
            <a:off x="812726" y="1833563"/>
            <a:ext cx="5181575" cy="3238500"/>
          </a:xfrm>
          <a:prstGeom prst="roundRect">
            <a:avLst>
              <a:gd name="adj" fmla="val 2353"/>
            </a:avLst>
          </a:prstGeom>
        </p:spPr>
      </p:pic>
      <p:sp>
        <p:nvSpPr>
          <p:cNvPr id="6" name="Text 3"/>
          <p:cNvSpPr/>
          <p:nvPr/>
        </p:nvSpPr>
        <p:spPr>
          <a:xfrm>
            <a:off x="812726" y="5173638"/>
            <a:ext cx="5337150" cy="55349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5B5648"/>
                </a:solidFill>
                <a:latin typeface="Karla" pitchFamily="34" charset="0"/>
                <a:ea typeface="Karla" pitchFamily="34" charset="-122"/>
                <a:cs typeface="Karla" pitchFamily="34" charset="-120"/>
              </a:rPr>
              <a:t>Review queue, shift roster and hour logging on one screen</a:t>
            </a:r>
            <a:endParaRPr lang="en-US" sz="1600" dirty="0"/>
          </a:p>
        </p:txBody>
      </p:sp>
      <p:sp>
        <p:nvSpPr>
          <p:cNvPr id="7" name="Shape 4"/>
          <p:cNvSpPr/>
          <p:nvPr/>
        </p:nvSpPr>
        <p:spPr>
          <a:xfrm>
            <a:off x="6197575" y="1833563"/>
            <a:ext cx="5181575" cy="3238500"/>
          </a:xfrm>
          <a:prstGeom prst="roundRect">
            <a:avLst>
              <a:gd name="adj" fmla="val 2353"/>
            </a:avLst>
          </a:prstGeom>
          <a:solidFill>
            <a:srgbClr val="EFE4C8"/>
          </a:solidFill>
          <a:ln/>
        </p:spPr>
        <p:txBody>
          <a:bodyPr/>
          <a:lstStyle/>
          <a:p>
            <a:endParaRPr lang="en-ZA"/>
          </a:p>
        </p:txBody>
      </p:sp>
      <p:pic>
        <p:nvPicPr>
          <p:cNvPr id="8" name="Image 1" descr="Animal profile with medical history timeline and the log a medical record form"/>
          <p:cNvPicPr>
            <a:picLocks noChangeAspect="1"/>
          </p:cNvPicPr>
          <p:nvPr/>
        </p:nvPicPr>
        <p:blipFill>
          <a:blip r:embed="rId4"/>
          <a:srcRect/>
          <a:stretch/>
        </p:blipFill>
        <p:spPr>
          <a:xfrm>
            <a:off x="6197575" y="1833563"/>
            <a:ext cx="5181575" cy="3238500"/>
          </a:xfrm>
          <a:prstGeom prst="roundRect">
            <a:avLst>
              <a:gd name="adj" fmla="val 2353"/>
            </a:avLst>
          </a:prstGeom>
        </p:spPr>
      </p:pic>
      <p:sp>
        <p:nvSpPr>
          <p:cNvPr id="9" name="Text 5"/>
          <p:cNvSpPr/>
          <p:nvPr/>
        </p:nvSpPr>
        <p:spPr>
          <a:xfrm>
            <a:off x="6197575" y="5173638"/>
            <a:ext cx="5337150" cy="55349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5B5648"/>
                </a:solidFill>
                <a:latin typeface="Karla" pitchFamily="34" charset="0"/>
                <a:ea typeface="Karla" pitchFamily="34" charset="-122"/>
                <a:cs typeface="Karla" pitchFamily="34" charset="-120"/>
              </a:rPr>
              <a:t>Medical history, loaded and saved through the staff only API</a:t>
            </a:r>
            <a:endParaRPr lang="en-US" sz="1600" dirty="0"/>
          </a:p>
        </p:txBody>
      </p:sp>
      <p:sp>
        <p:nvSpPr>
          <p:cNvPr id="10" name="Text 6"/>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FRONT END · SHELTER MANAGER</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Numbers the board can trust</a:t>
            </a:r>
            <a:endParaRPr lang="en-US" sz="3600" dirty="0"/>
          </a:p>
        </p:txBody>
      </p:sp>
      <p:sp>
        <p:nvSpPr>
          <p:cNvPr id="4" name="Shape 2"/>
          <p:cNvSpPr/>
          <p:nvPr/>
        </p:nvSpPr>
        <p:spPr>
          <a:xfrm>
            <a:off x="812726" y="1833563"/>
            <a:ext cx="5181575" cy="3238500"/>
          </a:xfrm>
          <a:prstGeom prst="roundRect">
            <a:avLst>
              <a:gd name="adj" fmla="val 2353"/>
            </a:avLst>
          </a:prstGeom>
          <a:solidFill>
            <a:srgbClr val="EFE4C8"/>
          </a:solidFill>
          <a:ln/>
        </p:spPr>
        <p:txBody>
          <a:bodyPr/>
          <a:lstStyle/>
          <a:p>
            <a:endParaRPr lang="en-ZA"/>
          </a:p>
        </p:txBody>
      </p:sp>
      <p:pic>
        <p:nvPicPr>
          <p:cNvPr id="5" name="Image 0" descr="Shelter dashboard with animals in care, adoptions, volunteer hours, work queues and a donations chart"/>
          <p:cNvPicPr>
            <a:picLocks noChangeAspect="1"/>
          </p:cNvPicPr>
          <p:nvPr/>
        </p:nvPicPr>
        <p:blipFill>
          <a:blip r:embed="rId3"/>
          <a:srcRect/>
          <a:stretch/>
        </p:blipFill>
        <p:spPr>
          <a:xfrm>
            <a:off x="812726" y="1833563"/>
            <a:ext cx="5181575" cy="3238500"/>
          </a:xfrm>
          <a:prstGeom prst="roundRect">
            <a:avLst>
              <a:gd name="adj" fmla="val 2353"/>
            </a:avLst>
          </a:prstGeom>
        </p:spPr>
      </p:pic>
      <p:sp>
        <p:nvSpPr>
          <p:cNvPr id="6" name="Text 3"/>
          <p:cNvSpPr/>
          <p:nvPr/>
        </p:nvSpPr>
        <p:spPr>
          <a:xfrm>
            <a:off x="812726" y="5173638"/>
            <a:ext cx="5337150" cy="55349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5B5648"/>
                </a:solidFill>
                <a:latin typeface="Karla" pitchFamily="34" charset="0"/>
                <a:ea typeface="Karla" pitchFamily="34" charset="-122"/>
                <a:cs typeface="Karla" pitchFamily="34" charset="-120"/>
              </a:rPr>
              <a:t>Live dashboard with work queues and a 6 month donations chart</a:t>
            </a:r>
            <a:endParaRPr lang="en-US" sz="1600" dirty="0"/>
          </a:p>
        </p:txBody>
      </p:sp>
      <p:sp>
        <p:nvSpPr>
          <p:cNvPr id="7" name="Shape 4"/>
          <p:cNvSpPr/>
          <p:nvPr/>
        </p:nvSpPr>
        <p:spPr>
          <a:xfrm>
            <a:off x="6197575" y="1833563"/>
            <a:ext cx="5181575" cy="3238500"/>
          </a:xfrm>
          <a:prstGeom prst="roundRect">
            <a:avLst>
              <a:gd name="adj" fmla="val 2353"/>
            </a:avLst>
          </a:prstGeom>
          <a:solidFill>
            <a:srgbClr val="EFE4C8"/>
          </a:solidFill>
          <a:ln/>
        </p:spPr>
        <p:txBody>
          <a:bodyPr/>
          <a:lstStyle/>
          <a:p>
            <a:endParaRPr lang="en-ZA"/>
          </a:p>
        </p:txBody>
      </p:sp>
      <p:pic>
        <p:nvPicPr>
          <p:cNvPr id="8" name="Image 1" descr="Funder report for a date range with donation totals and a CSV export button"/>
          <p:cNvPicPr>
            <a:picLocks noChangeAspect="1"/>
          </p:cNvPicPr>
          <p:nvPr/>
        </p:nvPicPr>
        <p:blipFill>
          <a:blip r:embed="rId4"/>
          <a:srcRect/>
          <a:stretch/>
        </p:blipFill>
        <p:spPr>
          <a:xfrm>
            <a:off x="6197575" y="1833563"/>
            <a:ext cx="5181575" cy="3238500"/>
          </a:xfrm>
          <a:prstGeom prst="roundRect">
            <a:avLst>
              <a:gd name="adj" fmla="val 2353"/>
            </a:avLst>
          </a:prstGeom>
        </p:spPr>
      </p:pic>
      <p:sp>
        <p:nvSpPr>
          <p:cNvPr id="9" name="Text 5"/>
          <p:cNvSpPr/>
          <p:nvPr/>
        </p:nvSpPr>
        <p:spPr>
          <a:xfrm>
            <a:off x="6197575" y="5173638"/>
            <a:ext cx="5337150" cy="289446"/>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5B5648"/>
                </a:solidFill>
                <a:latin typeface="Karla" pitchFamily="34" charset="0"/>
                <a:ea typeface="Karla" pitchFamily="34" charset="-122"/>
                <a:cs typeface="Karla" pitchFamily="34" charset="-120"/>
              </a:rPr>
              <a:t>Funder report for any date range and exported as CSV</a:t>
            </a:r>
            <a:endParaRPr lang="en-US" sz="1600" dirty="0"/>
          </a:p>
        </p:txBody>
      </p:sp>
      <p:sp>
        <p:nvSpPr>
          <p:cNvPr id="10" name="Text 6"/>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ARCHITECTURE</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A layered, modular monolith</a:t>
            </a:r>
            <a:endParaRPr lang="en-US" sz="3600" dirty="0"/>
          </a:p>
        </p:txBody>
      </p:sp>
      <p:sp>
        <p:nvSpPr>
          <p:cNvPr id="4" name="Shape 2"/>
          <p:cNvSpPr/>
          <p:nvPr/>
        </p:nvSpPr>
        <p:spPr>
          <a:xfrm>
            <a:off x="812726" y="1833563"/>
            <a:ext cx="6350000" cy="786929"/>
          </a:xfrm>
          <a:prstGeom prst="roundRect">
            <a:avLst>
              <a:gd name="adj" fmla="val 9683"/>
            </a:avLst>
          </a:prstGeom>
          <a:solidFill>
            <a:srgbClr val="1F3A2E"/>
          </a:solidFill>
          <a:ln/>
        </p:spPr>
        <p:txBody>
          <a:bodyPr/>
          <a:lstStyle/>
          <a:p>
            <a:endParaRPr lang="en-ZA"/>
          </a:p>
        </p:txBody>
      </p:sp>
      <p:sp>
        <p:nvSpPr>
          <p:cNvPr id="5" name="Text 3"/>
          <p:cNvSpPr/>
          <p:nvPr/>
        </p:nvSpPr>
        <p:spPr>
          <a:xfrm>
            <a:off x="1015876" y="1985863"/>
            <a:ext cx="6122010"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7EE"/>
                </a:solidFill>
                <a:latin typeface="Zilla Slab" pitchFamily="18" charset="0"/>
                <a:ea typeface="Zilla Slab" pitchFamily="18" charset="-122"/>
                <a:cs typeface="Zilla Slab" pitchFamily="18" charset="-120"/>
              </a:rPr>
              <a:t>PawConnect.Web</a:t>
            </a:r>
            <a:endParaRPr lang="en-US" sz="1600" dirty="0"/>
          </a:p>
        </p:txBody>
      </p:sp>
      <p:sp>
        <p:nvSpPr>
          <p:cNvPr id="6" name="Text 4"/>
          <p:cNvSpPr/>
          <p:nvPr/>
        </p:nvSpPr>
        <p:spPr>
          <a:xfrm>
            <a:off x="1015876" y="2254870"/>
            <a:ext cx="6122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FE4C8"/>
                </a:solidFill>
                <a:latin typeface="Karla" pitchFamily="34" charset="0"/>
                <a:ea typeface="Karla" pitchFamily="34" charset="-122"/>
                <a:cs typeface="Karla" pitchFamily="34" charset="-120"/>
              </a:rPr>
              <a:t>MVC pages · REST API · Identity · security middleware</a:t>
            </a:r>
            <a:endParaRPr lang="en-US" sz="1200" dirty="0"/>
          </a:p>
        </p:txBody>
      </p:sp>
      <p:sp>
        <p:nvSpPr>
          <p:cNvPr id="7" name="Shape 5"/>
          <p:cNvSpPr/>
          <p:nvPr/>
        </p:nvSpPr>
        <p:spPr>
          <a:xfrm>
            <a:off x="812726" y="2696642"/>
            <a:ext cx="6350000" cy="786929"/>
          </a:xfrm>
          <a:prstGeom prst="roundRect">
            <a:avLst>
              <a:gd name="adj" fmla="val 9683"/>
            </a:avLst>
          </a:prstGeom>
          <a:solidFill>
            <a:srgbClr val="E8A33D"/>
          </a:solidFill>
          <a:ln/>
        </p:spPr>
        <p:txBody>
          <a:bodyPr/>
          <a:lstStyle/>
          <a:p>
            <a:endParaRPr lang="en-ZA"/>
          </a:p>
        </p:txBody>
      </p:sp>
      <p:sp>
        <p:nvSpPr>
          <p:cNvPr id="8" name="Text 6"/>
          <p:cNvSpPr/>
          <p:nvPr/>
        </p:nvSpPr>
        <p:spPr>
          <a:xfrm>
            <a:off x="1015876" y="2848942"/>
            <a:ext cx="6122010"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3025"/>
                </a:solidFill>
                <a:latin typeface="Zilla Slab" pitchFamily="18" charset="0"/>
                <a:ea typeface="Zilla Slab" pitchFamily="18" charset="-122"/>
                <a:cs typeface="Zilla Slab" pitchFamily="18" charset="-120"/>
              </a:rPr>
              <a:t>PawConnect.Core</a:t>
            </a:r>
            <a:endParaRPr lang="en-US" sz="1600" dirty="0"/>
          </a:p>
        </p:txBody>
      </p:sp>
      <p:sp>
        <p:nvSpPr>
          <p:cNvPr id="9" name="Text 7"/>
          <p:cNvSpPr/>
          <p:nvPr/>
        </p:nvSpPr>
        <p:spPr>
          <a:xfrm>
            <a:off x="1015876" y="3117949"/>
            <a:ext cx="6122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53025"/>
                </a:solidFill>
                <a:latin typeface="Karla" pitchFamily="34" charset="0"/>
                <a:ea typeface="Karla" pitchFamily="34" charset="-122"/>
                <a:cs typeface="Karla" pitchFamily="34" charset="-120"/>
              </a:rPr>
              <a:t>Business rules · services · state machine · patterns · interfaces</a:t>
            </a:r>
            <a:endParaRPr lang="en-US" sz="1200" dirty="0"/>
          </a:p>
        </p:txBody>
      </p:sp>
      <p:sp>
        <p:nvSpPr>
          <p:cNvPr id="10" name="Shape 8"/>
          <p:cNvSpPr/>
          <p:nvPr/>
        </p:nvSpPr>
        <p:spPr>
          <a:xfrm>
            <a:off x="812726" y="3559721"/>
            <a:ext cx="6350000" cy="786929"/>
          </a:xfrm>
          <a:prstGeom prst="roundRect">
            <a:avLst>
              <a:gd name="adj" fmla="val 9683"/>
            </a:avLst>
          </a:prstGeom>
          <a:solidFill>
            <a:srgbClr val="2A4A3A"/>
          </a:solidFill>
          <a:ln/>
        </p:spPr>
        <p:txBody>
          <a:bodyPr/>
          <a:lstStyle/>
          <a:p>
            <a:endParaRPr lang="en-ZA"/>
          </a:p>
        </p:txBody>
      </p:sp>
      <p:sp>
        <p:nvSpPr>
          <p:cNvPr id="11" name="Text 9"/>
          <p:cNvSpPr/>
          <p:nvPr/>
        </p:nvSpPr>
        <p:spPr>
          <a:xfrm>
            <a:off x="1015876" y="3712021"/>
            <a:ext cx="6122010"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7EE"/>
                </a:solidFill>
                <a:latin typeface="Zilla Slab" pitchFamily="18" charset="0"/>
                <a:ea typeface="Zilla Slab" pitchFamily="18" charset="-122"/>
                <a:cs typeface="Zilla Slab" pitchFamily="18" charset="-120"/>
              </a:rPr>
              <a:t>PawConnect.Infrastructure</a:t>
            </a:r>
            <a:endParaRPr lang="en-US" sz="1600" dirty="0"/>
          </a:p>
        </p:txBody>
      </p:sp>
      <p:sp>
        <p:nvSpPr>
          <p:cNvPr id="12" name="Text 10"/>
          <p:cNvSpPr/>
          <p:nvPr/>
        </p:nvSpPr>
        <p:spPr>
          <a:xfrm>
            <a:off x="1015876" y="3981028"/>
            <a:ext cx="6122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FE4C8"/>
                </a:solidFill>
                <a:latin typeface="Karla" pitchFamily="34" charset="0"/>
                <a:ea typeface="Karla" pitchFamily="34" charset="-122"/>
                <a:cs typeface="Karla" pitchFamily="34" charset="-120"/>
              </a:rPr>
              <a:t>EF Core · repositories · migrations · email channels</a:t>
            </a:r>
            <a:endParaRPr lang="en-US" sz="1200" dirty="0"/>
          </a:p>
        </p:txBody>
      </p:sp>
      <p:sp>
        <p:nvSpPr>
          <p:cNvPr id="13" name="Shape 11"/>
          <p:cNvSpPr/>
          <p:nvPr/>
        </p:nvSpPr>
        <p:spPr>
          <a:xfrm>
            <a:off x="819076" y="4429150"/>
            <a:ext cx="6337300" cy="790104"/>
          </a:xfrm>
          <a:prstGeom prst="roundRect">
            <a:avLst>
              <a:gd name="adj" fmla="val 8841"/>
            </a:avLst>
          </a:prstGeom>
          <a:solidFill>
            <a:srgbClr val="EFE4C8"/>
          </a:solidFill>
          <a:ln w="12700">
            <a:solidFill>
              <a:srgbClr val="1F3A2E"/>
            </a:solidFill>
            <a:prstDash val="solid"/>
          </a:ln>
        </p:spPr>
        <p:txBody>
          <a:bodyPr/>
          <a:lstStyle/>
          <a:p>
            <a:endParaRPr lang="en-ZA"/>
          </a:p>
        </p:txBody>
      </p:sp>
      <p:sp>
        <p:nvSpPr>
          <p:cNvPr id="14" name="Text 12"/>
          <p:cNvSpPr/>
          <p:nvPr/>
        </p:nvSpPr>
        <p:spPr>
          <a:xfrm>
            <a:off x="1023813" y="4583038"/>
            <a:ext cx="61056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PostgreSQL 16</a:t>
            </a:r>
            <a:endParaRPr lang="en-US" sz="1600" dirty="0"/>
          </a:p>
        </p:txBody>
      </p:sp>
      <p:sp>
        <p:nvSpPr>
          <p:cNvPr id="15" name="Text 13"/>
          <p:cNvSpPr/>
          <p:nvPr/>
        </p:nvSpPr>
        <p:spPr>
          <a:xfrm>
            <a:off x="1023813" y="4852045"/>
            <a:ext cx="61056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Azure Database for PostgreSQL · Burstable B1ms</a:t>
            </a:r>
            <a:endParaRPr lang="en-US" sz="1200" dirty="0"/>
          </a:p>
        </p:txBody>
      </p:sp>
      <p:sp>
        <p:nvSpPr>
          <p:cNvPr id="16" name="Text 14"/>
          <p:cNvSpPr/>
          <p:nvPr/>
        </p:nvSpPr>
        <p:spPr>
          <a:xfrm>
            <a:off x="7569026" y="1833563"/>
            <a:ext cx="3924555" cy="573832"/>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Core depends on nothing.</a:t>
            </a:r>
            <a:r>
              <a:rPr lang="en-US" sz="1600" dirty="0">
                <a:solidFill>
                  <a:srgbClr val="262420"/>
                </a:solidFill>
                <a:latin typeface="Karla" pitchFamily="34" charset="0"/>
                <a:ea typeface="Karla" pitchFamily="34" charset="-122"/>
                <a:cs typeface="Karla" pitchFamily="34" charset="-120"/>
              </a:rPr>
              <a:t> Web and data layers plug into it.</a:t>
            </a:r>
            <a:endParaRPr lang="en-US" sz="1600" dirty="0"/>
          </a:p>
        </p:txBody>
      </p:sp>
      <p:sp>
        <p:nvSpPr>
          <p:cNvPr id="17" name="Text 15"/>
          <p:cNvSpPr/>
          <p:nvPr/>
        </p:nvSpPr>
        <p:spPr>
          <a:xfrm>
            <a:off x="7569026" y="2585145"/>
            <a:ext cx="3924555" cy="573832"/>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Testable:</a:t>
            </a:r>
            <a:r>
              <a:rPr lang="en-US" sz="1600" dirty="0">
                <a:solidFill>
                  <a:srgbClr val="262420"/>
                </a:solidFill>
                <a:latin typeface="Karla" pitchFamily="34" charset="0"/>
                <a:ea typeface="Karla" pitchFamily="34" charset="-122"/>
                <a:cs typeface="Karla" pitchFamily="34" charset="-120"/>
              </a:rPr>
              <a:t> every rule runs without a database.</a:t>
            </a:r>
            <a:endParaRPr lang="en-US" sz="1600" dirty="0"/>
          </a:p>
        </p:txBody>
      </p:sp>
      <p:sp>
        <p:nvSpPr>
          <p:cNvPr id="18" name="Text 16"/>
          <p:cNvSpPr/>
          <p:nvPr/>
        </p:nvSpPr>
        <p:spPr>
          <a:xfrm>
            <a:off x="7569026" y="3336727"/>
            <a:ext cx="3924555" cy="299616"/>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Cheap:</a:t>
            </a:r>
            <a:r>
              <a:rPr lang="en-US" sz="1600" dirty="0">
                <a:solidFill>
                  <a:srgbClr val="262420"/>
                </a:solidFill>
                <a:latin typeface="Karla" pitchFamily="34" charset="0"/>
                <a:ea typeface="Karla" pitchFamily="34" charset="-122"/>
                <a:cs typeface="Karla" pitchFamily="34" charset="-120"/>
              </a:rPr>
              <a:t> one app, one pipeline and one plan.</a:t>
            </a:r>
            <a:endParaRPr lang="en-US" sz="1600" dirty="0"/>
          </a:p>
        </p:txBody>
      </p:sp>
      <p:sp>
        <p:nvSpPr>
          <p:cNvPr id="19" name="Text 17"/>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BACK END · DESIGN PATTERNS</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The patterns we promised, built</a:t>
            </a:r>
            <a:endParaRPr lang="en-US" sz="3600" dirty="0"/>
          </a:p>
        </p:txBody>
      </p:sp>
      <p:sp>
        <p:nvSpPr>
          <p:cNvPr id="4" name="Shape 2"/>
          <p:cNvSpPr/>
          <p:nvPr/>
        </p:nvSpPr>
        <p:spPr>
          <a:xfrm>
            <a:off x="815901" y="1836737"/>
            <a:ext cx="5175349" cy="1426493"/>
          </a:xfrm>
          <a:prstGeom prst="roundRect">
            <a:avLst>
              <a:gd name="adj" fmla="val 6900"/>
            </a:avLst>
          </a:prstGeom>
          <a:solidFill>
            <a:srgbClr val="FFFDF7"/>
          </a:solidFill>
          <a:ln w="6350">
            <a:solidFill>
              <a:srgbClr val="E3DCC6"/>
            </a:solidFill>
            <a:prstDash val="solid"/>
          </a:ln>
        </p:spPr>
        <p:txBody>
          <a:bodyPr/>
          <a:lstStyle/>
          <a:p>
            <a:endParaRPr lang="en-ZA"/>
          </a:p>
        </p:txBody>
      </p:sp>
      <p:sp>
        <p:nvSpPr>
          <p:cNvPr id="5" name="Text 3"/>
          <p:cNvSpPr/>
          <p:nvPr/>
        </p:nvSpPr>
        <p:spPr>
          <a:xfrm>
            <a:off x="1074663" y="2070075"/>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3A2E"/>
                </a:solidFill>
                <a:latin typeface="Zilla Slab" pitchFamily="18" charset="0"/>
                <a:ea typeface="Zilla Slab" pitchFamily="18" charset="-122"/>
                <a:cs typeface="Zilla Slab" pitchFamily="18" charset="-120"/>
              </a:rPr>
              <a:t>Repository + Unit of Work</a:t>
            </a:r>
            <a:endParaRPr lang="en-US" sz="2200" dirty="0"/>
          </a:p>
        </p:txBody>
      </p:sp>
      <p:sp>
        <p:nvSpPr>
          <p:cNvPr id="6" name="Text 4"/>
          <p:cNvSpPr/>
          <p:nvPr/>
        </p:nvSpPr>
        <p:spPr>
          <a:xfrm>
            <a:off x="1074663" y="2481461"/>
            <a:ext cx="479755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B5648"/>
                </a:solidFill>
                <a:latin typeface="Karla" pitchFamily="34" charset="0"/>
                <a:ea typeface="Karla" pitchFamily="34" charset="-122"/>
                <a:cs typeface="Karla" pitchFamily="34" charset="-120"/>
              </a:rPr>
              <a:t>Services see interfaces, never EF Core. One save per request.</a:t>
            </a:r>
            <a:endParaRPr lang="en-US" sz="1600" dirty="0"/>
          </a:p>
        </p:txBody>
      </p:sp>
      <p:sp>
        <p:nvSpPr>
          <p:cNvPr id="7" name="Shape 5"/>
          <p:cNvSpPr/>
          <p:nvPr/>
        </p:nvSpPr>
        <p:spPr>
          <a:xfrm>
            <a:off x="6200750" y="1836737"/>
            <a:ext cx="5175349" cy="1426493"/>
          </a:xfrm>
          <a:prstGeom prst="roundRect">
            <a:avLst>
              <a:gd name="adj" fmla="val 6900"/>
            </a:avLst>
          </a:prstGeom>
          <a:solidFill>
            <a:srgbClr val="FFFDF7"/>
          </a:solidFill>
          <a:ln w="6350">
            <a:solidFill>
              <a:srgbClr val="E3DCC6"/>
            </a:solidFill>
            <a:prstDash val="solid"/>
          </a:ln>
        </p:spPr>
        <p:txBody>
          <a:bodyPr/>
          <a:lstStyle/>
          <a:p>
            <a:endParaRPr lang="en-ZA"/>
          </a:p>
        </p:txBody>
      </p:sp>
      <p:sp>
        <p:nvSpPr>
          <p:cNvPr id="8" name="Text 6"/>
          <p:cNvSpPr/>
          <p:nvPr/>
        </p:nvSpPr>
        <p:spPr>
          <a:xfrm>
            <a:off x="6459513" y="2070075"/>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3A2E"/>
                </a:solidFill>
                <a:latin typeface="Zilla Slab" pitchFamily="18" charset="0"/>
                <a:ea typeface="Zilla Slab" pitchFamily="18" charset="-122"/>
                <a:cs typeface="Zilla Slab" pitchFamily="18" charset="-120"/>
              </a:rPr>
              <a:t>Strategy: notifications</a:t>
            </a:r>
            <a:endParaRPr lang="en-US" sz="2200" dirty="0"/>
          </a:p>
        </p:txBody>
      </p:sp>
      <p:sp>
        <p:nvSpPr>
          <p:cNvPr id="9" name="Text 7"/>
          <p:cNvSpPr/>
          <p:nvPr/>
        </p:nvSpPr>
        <p:spPr>
          <a:xfrm>
            <a:off x="6459513" y="2481461"/>
            <a:ext cx="479755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B5648"/>
                </a:solidFill>
                <a:latin typeface="Karla" pitchFamily="34" charset="0"/>
                <a:ea typeface="Karla" pitchFamily="34" charset="-122"/>
                <a:cs typeface="Karla" pitchFamily="34" charset="-120"/>
              </a:rPr>
              <a:t>Email by default, SMS when urgent and retry with backoff fallback.</a:t>
            </a:r>
            <a:endParaRPr lang="en-US" sz="1600" dirty="0"/>
          </a:p>
        </p:txBody>
      </p:sp>
      <p:sp>
        <p:nvSpPr>
          <p:cNvPr id="10" name="Shape 8"/>
          <p:cNvSpPr/>
          <p:nvPr/>
        </p:nvSpPr>
        <p:spPr>
          <a:xfrm>
            <a:off x="815901" y="3472731"/>
            <a:ext cx="5175349" cy="1426493"/>
          </a:xfrm>
          <a:prstGeom prst="roundRect">
            <a:avLst>
              <a:gd name="adj" fmla="val 6900"/>
            </a:avLst>
          </a:prstGeom>
          <a:solidFill>
            <a:srgbClr val="FFFDF7"/>
          </a:solidFill>
          <a:ln w="6350">
            <a:solidFill>
              <a:srgbClr val="E3DCC6"/>
            </a:solidFill>
            <a:prstDash val="solid"/>
          </a:ln>
        </p:spPr>
        <p:txBody>
          <a:bodyPr/>
          <a:lstStyle/>
          <a:p>
            <a:endParaRPr lang="en-ZA"/>
          </a:p>
        </p:txBody>
      </p:sp>
      <p:sp>
        <p:nvSpPr>
          <p:cNvPr id="11" name="Text 9"/>
          <p:cNvSpPr/>
          <p:nvPr/>
        </p:nvSpPr>
        <p:spPr>
          <a:xfrm>
            <a:off x="1074663" y="3706068"/>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3A2E"/>
                </a:solidFill>
                <a:latin typeface="Zilla Slab" pitchFamily="18" charset="0"/>
                <a:ea typeface="Zilla Slab" pitchFamily="18" charset="-122"/>
                <a:cs typeface="Zilla Slab" pitchFamily="18" charset="-120"/>
              </a:rPr>
              <a:t>Factory: receipts</a:t>
            </a:r>
            <a:endParaRPr lang="en-US" sz="2200" dirty="0"/>
          </a:p>
        </p:txBody>
      </p:sp>
      <p:sp>
        <p:nvSpPr>
          <p:cNvPr id="12" name="Text 10"/>
          <p:cNvSpPr/>
          <p:nvPr/>
        </p:nvSpPr>
        <p:spPr>
          <a:xfrm>
            <a:off x="1074663" y="4117454"/>
            <a:ext cx="479755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B5648"/>
                </a:solidFill>
                <a:latin typeface="Karla" pitchFamily="34" charset="0"/>
                <a:ea typeface="Karla" pitchFamily="34" charset="-122"/>
                <a:cs typeface="Karla" pitchFamily="34" charset="-120"/>
              </a:rPr>
              <a:t>One place builds receipt numbers and wording for page, email and admin.</a:t>
            </a:r>
            <a:endParaRPr lang="en-US" sz="1600" dirty="0"/>
          </a:p>
        </p:txBody>
      </p:sp>
      <p:sp>
        <p:nvSpPr>
          <p:cNvPr id="13" name="Shape 11"/>
          <p:cNvSpPr/>
          <p:nvPr/>
        </p:nvSpPr>
        <p:spPr>
          <a:xfrm>
            <a:off x="6200750" y="3472731"/>
            <a:ext cx="5175349" cy="1426493"/>
          </a:xfrm>
          <a:prstGeom prst="roundRect">
            <a:avLst>
              <a:gd name="adj" fmla="val 6900"/>
            </a:avLst>
          </a:prstGeom>
          <a:solidFill>
            <a:srgbClr val="FFFDF7"/>
          </a:solidFill>
          <a:ln w="6350">
            <a:solidFill>
              <a:srgbClr val="E3DCC6"/>
            </a:solidFill>
            <a:prstDash val="solid"/>
          </a:ln>
        </p:spPr>
        <p:txBody>
          <a:bodyPr/>
          <a:lstStyle/>
          <a:p>
            <a:endParaRPr lang="en-ZA"/>
          </a:p>
        </p:txBody>
      </p:sp>
      <p:sp>
        <p:nvSpPr>
          <p:cNvPr id="14" name="Text 12"/>
          <p:cNvSpPr/>
          <p:nvPr/>
        </p:nvSpPr>
        <p:spPr>
          <a:xfrm>
            <a:off x="6459513" y="3706068"/>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3A2E"/>
                </a:solidFill>
                <a:latin typeface="Zilla Slab" pitchFamily="18" charset="0"/>
                <a:ea typeface="Zilla Slab" pitchFamily="18" charset="-122"/>
                <a:cs typeface="Zilla Slab" pitchFamily="18" charset="-120"/>
              </a:rPr>
              <a:t>State machine</a:t>
            </a:r>
            <a:endParaRPr lang="en-US" sz="2200" dirty="0"/>
          </a:p>
        </p:txBody>
      </p:sp>
      <p:sp>
        <p:nvSpPr>
          <p:cNvPr id="15" name="Text 13"/>
          <p:cNvSpPr/>
          <p:nvPr/>
        </p:nvSpPr>
        <p:spPr>
          <a:xfrm>
            <a:off x="6459513" y="4117454"/>
            <a:ext cx="479755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B5648"/>
                </a:solidFill>
                <a:latin typeface="Karla" pitchFamily="34" charset="0"/>
                <a:ea typeface="Karla" pitchFamily="34" charset="-122"/>
                <a:cs typeface="Karla" pitchFamily="34" charset="-120"/>
              </a:rPr>
              <a:t>Only legal status changes happen and guarded server side.</a:t>
            </a:r>
            <a:endParaRPr lang="en-US" sz="1600" dirty="0"/>
          </a:p>
        </p:txBody>
      </p:sp>
      <p:sp>
        <p:nvSpPr>
          <p:cNvPr id="16" name="Text 14"/>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BACK END · BUSINESS LOGIC</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The adoption lifecycle</a:t>
            </a:r>
            <a:endParaRPr lang="en-US" sz="3600" dirty="0"/>
          </a:p>
        </p:txBody>
      </p:sp>
      <p:sp>
        <p:nvSpPr>
          <p:cNvPr id="4" name="Text 2"/>
          <p:cNvSpPr/>
          <p:nvPr/>
        </p:nvSpPr>
        <p:spPr>
          <a:xfrm>
            <a:off x="812726" y="1884288"/>
            <a:ext cx="2146350" cy="639837"/>
          </a:xfrm>
          <a:prstGeom prst="roundRect">
            <a:avLst>
              <a:gd name="adj" fmla="val 11909"/>
            </a:avLst>
          </a:prstGeom>
          <a:solidFill>
            <a:srgbClr val="EFE4C8"/>
          </a:solidFill>
          <a:ln/>
        </p:spPr>
        <p:txBody>
          <a:bodyPr wrap="square" lIns="50135" tIns="155482" rIns="50135" bIns="130082" rtlCol="0" anchor="t">
            <a:normAutofit/>
          </a:bodyPr>
          <a:lstStyle/>
          <a:p>
            <a:pPr marL="0" indent="0" algn="ctr">
              <a:lnSpc>
                <a:spcPts val="2240"/>
              </a:lnSpc>
              <a:buNone/>
            </a:pPr>
            <a:r>
              <a:rPr lang="en-US" sz="1600" b="1" dirty="0">
                <a:solidFill>
                  <a:srgbClr val="1F3A2E"/>
                </a:solidFill>
                <a:latin typeface="Karla" pitchFamily="34" charset="0"/>
                <a:ea typeface="Karla" pitchFamily="34" charset="-122"/>
                <a:cs typeface="Karla" pitchFamily="34" charset="-120"/>
              </a:rPr>
              <a:t>Submitted</a:t>
            </a:r>
            <a:endParaRPr lang="en-US" sz="1600" dirty="0"/>
          </a:p>
        </p:txBody>
      </p:sp>
      <p:pic>
        <p:nvPicPr>
          <p:cNvPr id="5" name="Image 0" descr="arrow-right"/>
          <p:cNvPicPr>
            <a:picLocks noChangeAspect="1"/>
          </p:cNvPicPr>
          <p:nvPr/>
        </p:nvPicPr>
        <p:blipFill>
          <a:blip r:embed="rId3"/>
          <a:srcRect t="-6" b="-6"/>
          <a:stretch/>
        </p:blipFill>
        <p:spPr>
          <a:xfrm>
            <a:off x="3060650" y="2077145"/>
            <a:ext cx="457150" cy="254000"/>
          </a:xfrm>
          <a:prstGeom prst="rect">
            <a:avLst/>
          </a:prstGeom>
        </p:spPr>
      </p:pic>
      <p:sp>
        <p:nvSpPr>
          <p:cNvPr id="6" name="Text 3"/>
          <p:cNvSpPr/>
          <p:nvPr/>
        </p:nvSpPr>
        <p:spPr>
          <a:xfrm>
            <a:off x="3619376" y="1884288"/>
            <a:ext cx="2146474" cy="639837"/>
          </a:xfrm>
          <a:prstGeom prst="roundRect">
            <a:avLst>
              <a:gd name="adj" fmla="val 11909"/>
            </a:avLst>
          </a:prstGeom>
          <a:solidFill>
            <a:srgbClr val="EFE4C8"/>
          </a:solidFill>
          <a:ln/>
        </p:spPr>
        <p:txBody>
          <a:bodyPr wrap="square" lIns="50133" tIns="155482" rIns="50133" bIns="130082" rtlCol="0" anchor="t">
            <a:normAutofit/>
          </a:bodyPr>
          <a:lstStyle/>
          <a:p>
            <a:pPr marL="0" indent="0" algn="ctr">
              <a:lnSpc>
                <a:spcPts val="2240"/>
              </a:lnSpc>
              <a:buNone/>
            </a:pPr>
            <a:r>
              <a:rPr lang="en-US" sz="1600" b="1" dirty="0">
                <a:solidFill>
                  <a:srgbClr val="1F3A2E"/>
                </a:solidFill>
                <a:latin typeface="Karla" pitchFamily="34" charset="0"/>
                <a:ea typeface="Karla" pitchFamily="34" charset="-122"/>
                <a:cs typeface="Karla" pitchFamily="34" charset="-120"/>
              </a:rPr>
              <a:t>Under Review</a:t>
            </a:r>
            <a:endParaRPr lang="en-US" sz="1600" dirty="0"/>
          </a:p>
        </p:txBody>
      </p:sp>
      <p:pic>
        <p:nvPicPr>
          <p:cNvPr id="7" name="Image 1" descr="arrow-right"/>
          <p:cNvPicPr>
            <a:picLocks noChangeAspect="1"/>
          </p:cNvPicPr>
          <p:nvPr/>
        </p:nvPicPr>
        <p:blipFill>
          <a:blip r:embed="rId3"/>
          <a:srcRect t="-6" b="-6"/>
          <a:stretch/>
        </p:blipFill>
        <p:spPr>
          <a:xfrm>
            <a:off x="5867425" y="2077145"/>
            <a:ext cx="457150" cy="254000"/>
          </a:xfrm>
          <a:prstGeom prst="rect">
            <a:avLst/>
          </a:prstGeom>
        </p:spPr>
      </p:pic>
      <p:sp>
        <p:nvSpPr>
          <p:cNvPr id="8" name="Text 4"/>
          <p:cNvSpPr/>
          <p:nvPr/>
        </p:nvSpPr>
        <p:spPr>
          <a:xfrm>
            <a:off x="6426150" y="1884288"/>
            <a:ext cx="2146350" cy="639837"/>
          </a:xfrm>
          <a:prstGeom prst="roundRect">
            <a:avLst>
              <a:gd name="adj" fmla="val 11909"/>
            </a:avLst>
          </a:prstGeom>
          <a:solidFill>
            <a:srgbClr val="EFE4C8"/>
          </a:solidFill>
          <a:ln/>
        </p:spPr>
        <p:txBody>
          <a:bodyPr wrap="square" lIns="50135" tIns="155482" rIns="50135" bIns="130082" rtlCol="0" anchor="t">
            <a:normAutofit/>
          </a:bodyPr>
          <a:lstStyle/>
          <a:p>
            <a:pPr marL="0" indent="0" algn="ctr">
              <a:lnSpc>
                <a:spcPts val="2240"/>
              </a:lnSpc>
              <a:buNone/>
            </a:pPr>
            <a:r>
              <a:rPr lang="en-US" sz="1600" b="1" dirty="0">
                <a:solidFill>
                  <a:srgbClr val="1F3A2E"/>
                </a:solidFill>
                <a:latin typeface="Karla" pitchFamily="34" charset="0"/>
                <a:ea typeface="Karla" pitchFamily="34" charset="-122"/>
                <a:cs typeface="Karla" pitchFamily="34" charset="-120"/>
              </a:rPr>
              <a:t>Approved</a:t>
            </a:r>
            <a:endParaRPr lang="en-US" sz="1600" dirty="0"/>
          </a:p>
        </p:txBody>
      </p:sp>
      <p:pic>
        <p:nvPicPr>
          <p:cNvPr id="9" name="Image 2" descr="arrow-right"/>
          <p:cNvPicPr>
            <a:picLocks noChangeAspect="1"/>
          </p:cNvPicPr>
          <p:nvPr/>
        </p:nvPicPr>
        <p:blipFill>
          <a:blip r:embed="rId3"/>
          <a:srcRect t="-6" b="-6"/>
          <a:stretch/>
        </p:blipFill>
        <p:spPr>
          <a:xfrm>
            <a:off x="8674075" y="2077145"/>
            <a:ext cx="457150" cy="254000"/>
          </a:xfrm>
          <a:prstGeom prst="rect">
            <a:avLst/>
          </a:prstGeom>
        </p:spPr>
      </p:pic>
      <p:sp>
        <p:nvSpPr>
          <p:cNvPr id="10" name="Text 5"/>
          <p:cNvSpPr/>
          <p:nvPr/>
        </p:nvSpPr>
        <p:spPr>
          <a:xfrm>
            <a:off x="9232801" y="1884288"/>
            <a:ext cx="2146474" cy="639837"/>
          </a:xfrm>
          <a:prstGeom prst="roundRect">
            <a:avLst>
              <a:gd name="adj" fmla="val 11909"/>
            </a:avLst>
          </a:prstGeom>
          <a:solidFill>
            <a:srgbClr val="1F3A2E"/>
          </a:solidFill>
          <a:ln/>
        </p:spPr>
        <p:txBody>
          <a:bodyPr wrap="square" lIns="50133" tIns="155482" rIns="50133" bIns="130082" rtlCol="0" anchor="t">
            <a:normAutofit/>
          </a:bodyPr>
          <a:lstStyle/>
          <a:p>
            <a:pPr marL="0" indent="0" algn="ctr">
              <a:lnSpc>
                <a:spcPts val="2240"/>
              </a:lnSpc>
              <a:buNone/>
            </a:pPr>
            <a:r>
              <a:rPr lang="en-US" sz="1600" b="1" dirty="0">
                <a:solidFill>
                  <a:srgbClr val="FAF7EE"/>
                </a:solidFill>
                <a:latin typeface="Karla" pitchFamily="34" charset="0"/>
                <a:ea typeface="Karla" pitchFamily="34" charset="-122"/>
                <a:cs typeface="Karla" pitchFamily="34" charset="-120"/>
              </a:rPr>
              <a:t>Adopted</a:t>
            </a:r>
            <a:endParaRPr lang="en-US" sz="1600" dirty="0"/>
          </a:p>
        </p:txBody>
      </p:sp>
      <p:sp>
        <p:nvSpPr>
          <p:cNvPr id="11" name="Text 6"/>
          <p:cNvSpPr/>
          <p:nvPr/>
        </p:nvSpPr>
        <p:spPr>
          <a:xfrm>
            <a:off x="812726" y="2828851"/>
            <a:ext cx="10883545"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B5648"/>
                </a:solidFill>
                <a:latin typeface="Karla" pitchFamily="34" charset="0"/>
                <a:ea typeface="Karla" pitchFamily="34" charset="-122"/>
                <a:cs typeface="Karla" pitchFamily="34" charset="-120"/>
              </a:rPr>
              <a:t>Any open state can end in </a:t>
            </a:r>
            <a:r>
              <a:rPr lang="en-US" sz="1600" b="1" dirty="0">
                <a:solidFill>
                  <a:srgbClr val="943522"/>
                </a:solidFill>
                <a:latin typeface="Karla" pitchFamily="34" charset="0"/>
                <a:ea typeface="Karla" pitchFamily="34" charset="-122"/>
                <a:cs typeface="Karla" pitchFamily="34" charset="-120"/>
              </a:rPr>
              <a:t>Rejected</a:t>
            </a:r>
            <a:r>
              <a:rPr lang="en-US" sz="1600" dirty="0">
                <a:solidFill>
                  <a:srgbClr val="5B5648"/>
                </a:solidFill>
                <a:latin typeface="Karla" pitchFamily="34" charset="0"/>
                <a:ea typeface="Karla" pitchFamily="34" charset="-122"/>
                <a:cs typeface="Karla" pitchFamily="34" charset="-120"/>
              </a:rPr>
              <a:t> or </a:t>
            </a:r>
            <a:r>
              <a:rPr lang="en-US" sz="1600" b="1" dirty="0">
                <a:solidFill>
                  <a:srgbClr val="943522"/>
                </a:solidFill>
                <a:latin typeface="Karla" pitchFamily="34" charset="0"/>
                <a:ea typeface="Karla" pitchFamily="34" charset="-122"/>
                <a:cs typeface="Karla" pitchFamily="34" charset="-120"/>
              </a:rPr>
              <a:t>Withdrawn</a:t>
            </a:r>
            <a:r>
              <a:rPr lang="en-US" sz="1600" dirty="0">
                <a:solidFill>
                  <a:srgbClr val="5B5648"/>
                </a:solidFill>
                <a:latin typeface="Karla" pitchFamily="34" charset="0"/>
                <a:ea typeface="Karla" pitchFamily="34" charset="-122"/>
                <a:cs typeface="Karla" pitchFamily="34" charset="-120"/>
              </a:rPr>
              <a:t>. Both are final.</a:t>
            </a:r>
            <a:endParaRPr lang="en-US" sz="1600" dirty="0"/>
          </a:p>
        </p:txBody>
      </p:sp>
      <p:sp>
        <p:nvSpPr>
          <p:cNvPr id="12" name="Shape 7"/>
          <p:cNvSpPr/>
          <p:nvPr/>
        </p:nvSpPr>
        <p:spPr>
          <a:xfrm>
            <a:off x="812726" y="3430662"/>
            <a:ext cx="3386708" cy="0"/>
          </a:xfrm>
          <a:prstGeom prst="line">
            <a:avLst/>
          </a:prstGeom>
          <a:noFill/>
          <a:ln w="25400">
            <a:solidFill>
              <a:srgbClr val="E8A33D"/>
            </a:solidFill>
            <a:prstDash val="solid"/>
          </a:ln>
        </p:spPr>
        <p:txBody>
          <a:bodyPr/>
          <a:lstStyle/>
          <a:p>
            <a:endParaRPr lang="en-ZA"/>
          </a:p>
        </p:txBody>
      </p:sp>
      <p:sp>
        <p:nvSpPr>
          <p:cNvPr id="13" name="Text 8"/>
          <p:cNvSpPr/>
          <p:nvPr/>
        </p:nvSpPr>
        <p:spPr>
          <a:xfrm>
            <a:off x="812726" y="3594075"/>
            <a:ext cx="348830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Guarded</a:t>
            </a:r>
            <a:endParaRPr lang="en-US" sz="1600" dirty="0"/>
          </a:p>
        </p:txBody>
      </p:sp>
      <p:sp>
        <p:nvSpPr>
          <p:cNvPr id="14" name="Text 9"/>
          <p:cNvSpPr/>
          <p:nvPr/>
        </p:nvSpPr>
        <p:spPr>
          <a:xfrm>
            <a:off x="812726" y="3888507"/>
            <a:ext cx="348830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Adopted only after a home visit and a received fee</a:t>
            </a:r>
            <a:endParaRPr lang="en-US" sz="1200" dirty="0"/>
          </a:p>
        </p:txBody>
      </p:sp>
      <p:sp>
        <p:nvSpPr>
          <p:cNvPr id="15" name="Shape 10"/>
          <p:cNvSpPr/>
          <p:nvPr/>
        </p:nvSpPr>
        <p:spPr>
          <a:xfrm>
            <a:off x="4402584" y="3430662"/>
            <a:ext cx="3386708" cy="0"/>
          </a:xfrm>
          <a:prstGeom prst="line">
            <a:avLst/>
          </a:prstGeom>
          <a:noFill/>
          <a:ln w="25400">
            <a:solidFill>
              <a:srgbClr val="E8A33D"/>
            </a:solidFill>
            <a:prstDash val="solid"/>
          </a:ln>
        </p:spPr>
        <p:txBody>
          <a:bodyPr/>
          <a:lstStyle/>
          <a:p>
            <a:endParaRPr lang="en-ZA"/>
          </a:p>
        </p:txBody>
      </p:sp>
      <p:sp>
        <p:nvSpPr>
          <p:cNvPr id="16" name="Text 11"/>
          <p:cNvSpPr/>
          <p:nvPr/>
        </p:nvSpPr>
        <p:spPr>
          <a:xfrm>
            <a:off x="4402584" y="3594075"/>
            <a:ext cx="348830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In sync</a:t>
            </a:r>
            <a:endParaRPr lang="en-US" sz="1600" dirty="0"/>
          </a:p>
        </p:txBody>
      </p:sp>
      <p:sp>
        <p:nvSpPr>
          <p:cNvPr id="17" name="Text 12"/>
          <p:cNvSpPr/>
          <p:nvPr/>
        </p:nvSpPr>
        <p:spPr>
          <a:xfrm>
            <a:off x="4402584" y="3888507"/>
            <a:ext cx="348830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The animal goes Pending, back to Available or Adopted automatically</a:t>
            </a:r>
            <a:endParaRPr lang="en-US" sz="1200" dirty="0"/>
          </a:p>
        </p:txBody>
      </p:sp>
      <p:sp>
        <p:nvSpPr>
          <p:cNvPr id="18" name="Shape 13"/>
          <p:cNvSpPr/>
          <p:nvPr/>
        </p:nvSpPr>
        <p:spPr>
          <a:xfrm>
            <a:off x="7992442" y="3430662"/>
            <a:ext cx="3386832" cy="0"/>
          </a:xfrm>
          <a:prstGeom prst="line">
            <a:avLst/>
          </a:prstGeom>
          <a:noFill/>
          <a:ln w="25400">
            <a:solidFill>
              <a:srgbClr val="E8A33D"/>
            </a:solidFill>
            <a:prstDash val="solid"/>
          </a:ln>
        </p:spPr>
        <p:txBody>
          <a:bodyPr/>
          <a:lstStyle/>
          <a:p>
            <a:endParaRPr lang="en-ZA"/>
          </a:p>
        </p:txBody>
      </p:sp>
      <p:sp>
        <p:nvSpPr>
          <p:cNvPr id="19" name="Text 14"/>
          <p:cNvSpPr/>
          <p:nvPr/>
        </p:nvSpPr>
        <p:spPr>
          <a:xfrm>
            <a:off x="7992442" y="3594075"/>
            <a:ext cx="3488437"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Audited</a:t>
            </a:r>
            <a:endParaRPr lang="en-US" sz="1600" dirty="0"/>
          </a:p>
        </p:txBody>
      </p:sp>
      <p:sp>
        <p:nvSpPr>
          <p:cNvPr id="20" name="Text 15"/>
          <p:cNvSpPr/>
          <p:nvPr/>
        </p:nvSpPr>
        <p:spPr>
          <a:xfrm>
            <a:off x="7992442" y="3888507"/>
            <a:ext cx="34884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Every change is logged with who and when and the applicant is emailed</a:t>
            </a:r>
            <a:endParaRPr lang="en-US" sz="1200" dirty="0"/>
          </a:p>
        </p:txBody>
      </p:sp>
      <p:sp>
        <p:nvSpPr>
          <p:cNvPr id="21" name="Text 16"/>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BACK END · DATABASE</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Integrity lives in the database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2351296013"/>
              </p:ext>
            </p:extLst>
          </p:nvPr>
        </p:nvGraphicFramePr>
        <p:xfrm>
          <a:off x="820663" y="1841500"/>
          <a:ext cx="10558363" cy="3468318"/>
        </p:xfrm>
        <a:graphic>
          <a:graphicData uri="http://schemas.openxmlformats.org/drawingml/2006/table">
            <a:tbl>
              <a:tblPr/>
              <a:tblGrid>
                <a:gridCol w="4223345">
                  <a:extLst>
                    <a:ext uri="{9D8B030D-6E8A-4147-A177-3AD203B41FA5}">
                      <a16:colId xmlns:a16="http://schemas.microsoft.com/office/drawing/2014/main" val="20000"/>
                    </a:ext>
                  </a:extLst>
                </a:gridCol>
                <a:gridCol w="6335018">
                  <a:extLst>
                    <a:ext uri="{9D8B030D-6E8A-4147-A177-3AD203B41FA5}">
                      <a16:colId xmlns:a16="http://schemas.microsoft.com/office/drawing/2014/main" val="20001"/>
                    </a:ext>
                  </a:extLst>
                </a:gridCol>
              </a:tblGrid>
              <a:tr h="495474">
                <a:tc>
                  <a:txBody>
                    <a:bodyPr/>
                    <a:lstStyle/>
                    <a:p>
                      <a:pPr marL="0" indent="0">
                        <a:lnSpc>
                          <a:spcPts val="2240"/>
                        </a:lnSpc>
                        <a:buNone/>
                      </a:pPr>
                      <a:r>
                        <a:rPr lang="en-US" sz="1600" b="1" dirty="0">
                          <a:solidFill>
                            <a:srgbClr val="FAF7EE"/>
                          </a:solidFill>
                          <a:latin typeface="Karla" pitchFamily="34" charset="0"/>
                          <a:ea typeface="Karla" pitchFamily="34" charset="-122"/>
                          <a:cs typeface="Karla" pitchFamily="34" charset="-120"/>
                        </a:rPr>
                        <a:t>Guarantee</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2240"/>
                        </a:lnSpc>
                        <a:buNone/>
                      </a:pPr>
                      <a:r>
                        <a:rPr lang="en-US" sz="1600" b="1" dirty="0">
                          <a:solidFill>
                            <a:srgbClr val="FAF7EE"/>
                          </a:solidFill>
                          <a:latin typeface="Karla" pitchFamily="34" charset="0"/>
                          <a:ea typeface="Karla" pitchFamily="34" charset="-122"/>
                          <a:cs typeface="Karla" pitchFamily="34" charset="-120"/>
                        </a:rPr>
                        <a:t>How</a:t>
                      </a:r>
                      <a:endParaRPr lang="en-US" sz="1600" dirty="0">
                        <a:latin typeface="Karla" charset="0"/>
                        <a:ea typeface="Karla" charset="0"/>
                        <a:cs typeface="Karla" charset="0"/>
                      </a:endParaRPr>
                    </a:p>
                  </a:txBody>
                  <a:tcPr marL="152400" marR="152400" marT="101600" marB="10160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495474">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One open application per animal</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PostgreSQL partial unique index</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1"/>
                  </a:ext>
                </a:extLst>
              </a:tr>
              <a:tr h="495474">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No shift overbooking</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Optimistic concurrency token and retry</a:t>
                      </a:r>
                      <a:endParaRPr lang="en-US" sz="1600" dirty="0">
                        <a:latin typeface="Karla" charset="0"/>
                        <a:ea typeface="Karla" charset="0"/>
                        <a:cs typeface="Karla" charset="0"/>
                      </a:endParaRPr>
                    </a:p>
                  </a:txBody>
                  <a:tcPr marL="152400" marR="152400" marT="101600" marB="1016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extLst>
                  <a:ext uri="{0D108BD9-81ED-4DB2-BD59-A6C34878D82A}">
                    <a16:rowId xmlns:a16="http://schemas.microsoft.com/office/drawing/2014/main" val="10002"/>
                  </a:ext>
                </a:extLst>
              </a:tr>
              <a:tr h="495474">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No double sign-ups</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Unique index</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3"/>
                  </a:ext>
                </a:extLst>
              </a:tr>
              <a:tr h="495474">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No lost updates</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Concurrency tokens on applications</a:t>
                      </a:r>
                      <a:endParaRPr lang="en-US" sz="1600" dirty="0">
                        <a:latin typeface="Karla" charset="0"/>
                        <a:ea typeface="Karla" charset="0"/>
                        <a:cs typeface="Karla" charset="0"/>
                      </a:endParaRPr>
                    </a:p>
                  </a:txBody>
                  <a:tcPr marL="152400" marR="152400" marT="101600" marB="1016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extLst>
                  <a:ext uri="{0D108BD9-81ED-4DB2-BD59-A6C34878D82A}">
                    <a16:rowId xmlns:a16="http://schemas.microsoft.com/office/drawing/2014/main" val="10004"/>
                  </a:ext>
                </a:extLst>
              </a:tr>
              <a:tr h="495474">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Invalid data refused</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CHECK constraints on every rule</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5"/>
                  </a:ext>
                </a:extLst>
              </a:tr>
              <a:tr h="495474">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Safe schema changes</a:t>
                      </a:r>
                      <a:endParaRPr lang="en-US" sz="1600" dirty="0">
                        <a:latin typeface="Karla" charset="0"/>
                        <a:ea typeface="Karla" charset="0"/>
                        <a:cs typeface="Karla" charset="0"/>
                      </a:endParaRPr>
                    </a:p>
                  </a:txBody>
                  <a:tcPr marL="152400" marR="152400" marT="101600" marB="101600">
                    <a:lnL w="12700" cap="flat" cmpd="sng" algn="ctr">
                      <a:solidFill>
                        <a:srgbClr val="C7C5BE"/>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EF Core migrations checked in CI</a:t>
                      </a:r>
                      <a:endParaRPr lang="en-US" sz="1600" dirty="0">
                        <a:latin typeface="Karla" charset="0"/>
                        <a:ea typeface="Karla" charset="0"/>
                        <a:cs typeface="Karla" charset="0"/>
                      </a:endParaRPr>
                    </a:p>
                  </a:txBody>
                  <a:tcPr marL="152400" marR="152400" marT="101600" marB="1016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extLst>
                  <a:ext uri="{0D108BD9-81ED-4DB2-BD59-A6C34878D82A}">
                    <a16:rowId xmlns:a16="http://schemas.microsoft.com/office/drawing/2014/main" val="10006"/>
                  </a:ext>
                </a:extLst>
              </a:tr>
            </a:tbl>
          </a:graphicData>
        </a:graphic>
      </p:graphicFrame>
      <p:sp>
        <p:nvSpPr>
          <p:cNvPr id="5" name="Text 2"/>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BACK END · REST API</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One API for the site and others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0663" y="1841500"/>
          <a:ext cx="7104063" cy="2988472"/>
        </p:xfrm>
        <a:graphic>
          <a:graphicData uri="http://schemas.openxmlformats.org/drawingml/2006/table">
            <a:tbl>
              <a:tblPr/>
              <a:tblGrid>
                <a:gridCol w="994569">
                  <a:extLst>
                    <a:ext uri="{9D8B030D-6E8A-4147-A177-3AD203B41FA5}">
                      <a16:colId xmlns:a16="http://schemas.microsoft.com/office/drawing/2014/main" val="20000"/>
                    </a:ext>
                  </a:extLst>
                </a:gridCol>
                <a:gridCol w="4688681">
                  <a:extLst>
                    <a:ext uri="{9D8B030D-6E8A-4147-A177-3AD203B41FA5}">
                      <a16:colId xmlns:a16="http://schemas.microsoft.com/office/drawing/2014/main" val="20001"/>
                    </a:ext>
                  </a:extLst>
                </a:gridCol>
                <a:gridCol w="1420813">
                  <a:extLst>
                    <a:ext uri="{9D8B030D-6E8A-4147-A177-3AD203B41FA5}">
                      <a16:colId xmlns:a16="http://schemas.microsoft.com/office/drawing/2014/main" val="20002"/>
                    </a:ext>
                  </a:extLst>
                </a:gridCol>
              </a:tblGrid>
              <a:tr h="373559">
                <a:tc>
                  <a:txBody>
                    <a:bodyPr/>
                    <a:lstStyle/>
                    <a:p>
                      <a:pPr marL="0" indent="0">
                        <a:lnSpc>
                          <a:spcPts val="1680"/>
                        </a:lnSpc>
                        <a:buNone/>
                      </a:pPr>
                      <a:r>
                        <a:rPr lang="en-US" sz="1200" b="1" dirty="0">
                          <a:solidFill>
                            <a:srgbClr val="FAF7EE"/>
                          </a:solidFill>
                          <a:latin typeface="Space Mono" pitchFamily="49" charset="0"/>
                          <a:ea typeface="Space Mono" pitchFamily="49" charset="-122"/>
                          <a:cs typeface="Space Mono" pitchFamily="49" charset="-120"/>
                        </a:rPr>
                        <a:t>Verb</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AF7EE"/>
                          </a:solidFill>
                          <a:latin typeface="Space Mono" pitchFamily="49" charset="0"/>
                          <a:ea typeface="Space Mono" pitchFamily="49" charset="-122"/>
                          <a:cs typeface="Space Mono" pitchFamily="49" charset="-120"/>
                        </a:rPr>
                        <a:t>Endpoint</a:t>
                      </a:r>
                      <a:endParaRPr lang="en-US" sz="1200" dirty="0">
                        <a:latin typeface="Space Mono" charset="0"/>
                        <a:ea typeface="Space Mono" charset="0"/>
                        <a:cs typeface="Space Mono" charset="0"/>
                      </a:endParaRPr>
                    </a:p>
                  </a:txBody>
                  <a:tcPr marL="101600" marR="101600" marT="76200" marB="7620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AF7EE"/>
                          </a:solidFill>
                          <a:latin typeface="Space Mono" pitchFamily="49" charset="0"/>
                          <a:ea typeface="Space Mono" pitchFamily="49" charset="-122"/>
                          <a:cs typeface="Space Mono" pitchFamily="49" charset="-120"/>
                        </a:rPr>
                        <a:t>Who</a:t>
                      </a:r>
                      <a:endParaRPr lang="en-US" sz="1200" dirty="0">
                        <a:latin typeface="Space Mono" charset="0"/>
                        <a:ea typeface="Space Mono" charset="0"/>
                        <a:cs typeface="Space Mono" charset="0"/>
                      </a:endParaRPr>
                    </a:p>
                  </a:txBody>
                  <a:tcPr marL="101600" marR="101600" marT="76200" marB="7620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373559">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GET</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/api/animals?species=&amp;kids=</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Public</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1"/>
                  </a:ext>
                </a:extLst>
              </a:tr>
              <a:tr h="373559">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GET</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/api/animals/{id}?include=history</a:t>
                      </a:r>
                      <a:endParaRPr lang="en-US" sz="1200" dirty="0">
                        <a:latin typeface="Space Mono" charset="0"/>
                        <a:ea typeface="Space Mono" charset="0"/>
                        <a:cs typeface="Space Mono" charset="0"/>
                      </a:endParaRPr>
                    </a:p>
                  </a:txBody>
                  <a:tcPr marL="101600" marR="101600" marT="76200" marB="762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Staff</a:t>
                      </a:r>
                      <a:endParaRPr lang="en-US" sz="1200" dirty="0">
                        <a:latin typeface="Space Mono" charset="0"/>
                        <a:ea typeface="Space Mono" charset="0"/>
                        <a:cs typeface="Space Mono" charset="0"/>
                      </a:endParaRPr>
                    </a:p>
                  </a:txBody>
                  <a:tcPr marL="101600" marR="101600" marT="76200" marB="762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extLst>
                  <a:ext uri="{0D108BD9-81ED-4DB2-BD59-A6C34878D82A}">
                    <a16:rowId xmlns:a16="http://schemas.microsoft.com/office/drawing/2014/main" val="10002"/>
                  </a:ext>
                </a:extLst>
              </a:tr>
              <a:tr h="373559">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POST</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/api/medical-records</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Staff</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3"/>
                  </a:ext>
                </a:extLst>
              </a:tr>
              <a:tr h="373559">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POST</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/api/applications</a:t>
                      </a:r>
                      <a:endParaRPr lang="en-US" sz="1200" dirty="0">
                        <a:latin typeface="Space Mono" charset="0"/>
                        <a:ea typeface="Space Mono" charset="0"/>
                        <a:cs typeface="Space Mono" charset="0"/>
                      </a:endParaRPr>
                    </a:p>
                  </a:txBody>
                  <a:tcPr marL="101600" marR="101600" marT="76200" marB="762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Adopter</a:t>
                      </a:r>
                      <a:endParaRPr lang="en-US" sz="1200" dirty="0">
                        <a:latin typeface="Space Mono" charset="0"/>
                        <a:ea typeface="Space Mono" charset="0"/>
                        <a:cs typeface="Space Mono" charset="0"/>
                      </a:endParaRPr>
                    </a:p>
                  </a:txBody>
                  <a:tcPr marL="101600" marR="101600" marT="76200" marB="762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extLst>
                  <a:ext uri="{0D108BD9-81ED-4DB2-BD59-A6C34878D82A}">
                    <a16:rowId xmlns:a16="http://schemas.microsoft.com/office/drawing/2014/main" val="10004"/>
                  </a:ext>
                </a:extLst>
              </a:tr>
              <a:tr h="373559">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POST</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/api/applications/{id}/transitions</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Staff</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5"/>
                  </a:ext>
                </a:extLst>
              </a:tr>
              <a:tr h="373559">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POST</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/api/shifts/{id}/signup</a:t>
                      </a:r>
                      <a:endParaRPr lang="en-US" sz="1200" dirty="0">
                        <a:latin typeface="Space Mono" charset="0"/>
                        <a:ea typeface="Space Mono" charset="0"/>
                        <a:cs typeface="Space Mono" charset="0"/>
                      </a:endParaRPr>
                    </a:p>
                  </a:txBody>
                  <a:tcPr marL="101600" marR="101600" marT="76200" marB="762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Staff</a:t>
                      </a:r>
                      <a:endParaRPr lang="en-US" sz="1200" dirty="0">
                        <a:latin typeface="Space Mono" charset="0"/>
                        <a:ea typeface="Space Mono" charset="0"/>
                        <a:cs typeface="Space Mono" charset="0"/>
                      </a:endParaRPr>
                    </a:p>
                  </a:txBody>
                  <a:tcPr marL="101600" marR="101600" marT="76200" marB="762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extLst>
                  <a:ext uri="{0D108BD9-81ED-4DB2-BD59-A6C34878D82A}">
                    <a16:rowId xmlns:a16="http://schemas.microsoft.com/office/drawing/2014/main" val="10006"/>
                  </a:ext>
                </a:extLst>
              </a:tr>
              <a:tr h="373559">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GET</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/api/reports/donations.csv</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1680"/>
                        </a:lnSpc>
                        <a:buNone/>
                      </a:pPr>
                      <a:r>
                        <a:rPr lang="en-US" sz="1200" dirty="0">
                          <a:solidFill>
                            <a:srgbClr val="262420"/>
                          </a:solidFill>
                          <a:latin typeface="Space Mono" pitchFamily="49" charset="0"/>
                          <a:ea typeface="Space Mono" pitchFamily="49" charset="-122"/>
                          <a:cs typeface="Space Mono" pitchFamily="49" charset="-120"/>
                        </a:rPr>
                        <a:t>Admin</a:t>
                      </a:r>
                      <a:endParaRPr lang="en-US" sz="1200" dirty="0">
                        <a:latin typeface="Space Mono" charset="0"/>
                        <a:ea typeface="Space Mono" charset="0"/>
                        <a:cs typeface="Space Mono" charset="0"/>
                      </a:endParaRPr>
                    </a:p>
                  </a:txBody>
                  <a:tcPr marL="101600" marR="101600" marT="76200" marB="762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229451" y="1833563"/>
            <a:ext cx="3244318" cy="573832"/>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Correct codes:</a:t>
            </a:r>
            <a:r>
              <a:rPr lang="en-US" sz="1600" dirty="0">
                <a:solidFill>
                  <a:srgbClr val="262420"/>
                </a:solidFill>
                <a:latin typeface="Karla" pitchFamily="34" charset="0"/>
                <a:ea typeface="Karla" pitchFamily="34" charset="-122"/>
                <a:cs typeface="Karla" pitchFamily="34" charset="-120"/>
              </a:rPr>
              <a:t> 201, 204, 400, 401, 403, 409</a:t>
            </a:r>
            <a:endParaRPr lang="en-US" sz="1600" dirty="0"/>
          </a:p>
        </p:txBody>
      </p:sp>
      <p:sp>
        <p:nvSpPr>
          <p:cNvPr id="6" name="Text 3"/>
          <p:cNvSpPr/>
          <p:nvPr/>
        </p:nvSpPr>
        <p:spPr>
          <a:xfrm>
            <a:off x="8229451" y="2559720"/>
            <a:ext cx="3779788" cy="299616"/>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Errors</a:t>
            </a:r>
            <a:r>
              <a:rPr lang="en-US" sz="1600" dirty="0">
                <a:solidFill>
                  <a:srgbClr val="262420"/>
                </a:solidFill>
                <a:latin typeface="Karla" pitchFamily="34" charset="0"/>
                <a:ea typeface="Karla" pitchFamily="34" charset="-122"/>
                <a:cs typeface="Karla" pitchFamily="34" charset="-120"/>
              </a:rPr>
              <a:t> as RFC 7807 problem JSON</a:t>
            </a:r>
            <a:endParaRPr lang="en-US" sz="1600" dirty="0"/>
          </a:p>
        </p:txBody>
      </p:sp>
      <p:sp>
        <p:nvSpPr>
          <p:cNvPr id="7" name="Text 4"/>
          <p:cNvSpPr/>
          <p:nvPr/>
        </p:nvSpPr>
        <p:spPr>
          <a:xfrm>
            <a:off x="8229451" y="3011661"/>
            <a:ext cx="3244318" cy="573832"/>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Auth:</a:t>
            </a:r>
            <a:r>
              <a:rPr lang="en-US" sz="1600" dirty="0">
                <a:solidFill>
                  <a:srgbClr val="262420"/>
                </a:solidFill>
                <a:latin typeface="Karla" pitchFamily="34" charset="0"/>
                <a:ea typeface="Karla" pitchFamily="34" charset="-122"/>
                <a:cs typeface="Karla" pitchFamily="34" charset="-120"/>
              </a:rPr>
              <a:t> cookie + CSRF header, or bearer token</a:t>
            </a:r>
            <a:endParaRPr lang="en-US" sz="1600" dirty="0"/>
          </a:p>
        </p:txBody>
      </p:sp>
      <p:sp>
        <p:nvSpPr>
          <p:cNvPr id="8" name="Text 5"/>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SECURITY · OWASP TOP 10 + POPIA</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Secure at every layer</a:t>
            </a:r>
            <a:endParaRPr lang="en-US" sz="3600" dirty="0"/>
          </a:p>
        </p:txBody>
      </p:sp>
      <p:sp>
        <p:nvSpPr>
          <p:cNvPr id="4" name="Shape 2"/>
          <p:cNvSpPr/>
          <p:nvPr/>
        </p:nvSpPr>
        <p:spPr>
          <a:xfrm>
            <a:off x="815901" y="1836737"/>
            <a:ext cx="3397349" cy="1492473"/>
          </a:xfrm>
          <a:prstGeom prst="roundRect">
            <a:avLst>
              <a:gd name="adj" fmla="val 6595"/>
            </a:avLst>
          </a:prstGeom>
          <a:solidFill>
            <a:srgbClr val="FFFDF7"/>
          </a:solidFill>
          <a:ln w="6350">
            <a:solidFill>
              <a:srgbClr val="E3DCC6"/>
            </a:solidFill>
            <a:prstDash val="solid"/>
          </a:ln>
        </p:spPr>
        <p:txBody>
          <a:bodyPr/>
          <a:lstStyle/>
          <a:p>
            <a:endParaRPr lang="en-ZA"/>
          </a:p>
        </p:txBody>
      </p:sp>
      <p:pic>
        <p:nvPicPr>
          <p:cNvPr id="5" name="Image 0" descr="Lock"/>
          <p:cNvPicPr>
            <a:picLocks noChangeAspect="1"/>
          </p:cNvPicPr>
          <p:nvPr/>
        </p:nvPicPr>
        <p:blipFill>
          <a:blip r:embed="rId3"/>
          <a:srcRect/>
          <a:stretch/>
        </p:blipFill>
        <p:spPr>
          <a:xfrm>
            <a:off x="1023813" y="2044650"/>
            <a:ext cx="279301" cy="279301"/>
          </a:xfrm>
          <a:prstGeom prst="rect">
            <a:avLst/>
          </a:prstGeom>
        </p:spPr>
      </p:pic>
      <p:sp>
        <p:nvSpPr>
          <p:cNvPr id="6" name="Text 3"/>
          <p:cNvSpPr/>
          <p:nvPr/>
        </p:nvSpPr>
        <p:spPr>
          <a:xfrm>
            <a:off x="1023813" y="2387451"/>
            <a:ext cx="307096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Access control</a:t>
            </a:r>
            <a:endParaRPr lang="en-US" sz="1600" dirty="0"/>
          </a:p>
        </p:txBody>
      </p:sp>
      <p:sp>
        <p:nvSpPr>
          <p:cNvPr id="7" name="Text 4"/>
          <p:cNvSpPr/>
          <p:nvPr/>
        </p:nvSpPr>
        <p:spPr>
          <a:xfrm>
            <a:off x="1023813" y="2694657"/>
            <a:ext cx="307096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Roles on every endpoint; own records and own branch only</a:t>
            </a:r>
            <a:endParaRPr lang="en-US" sz="1200" dirty="0"/>
          </a:p>
        </p:txBody>
      </p:sp>
      <p:sp>
        <p:nvSpPr>
          <p:cNvPr id="8" name="Shape 5"/>
          <p:cNvSpPr/>
          <p:nvPr/>
        </p:nvSpPr>
        <p:spPr>
          <a:xfrm>
            <a:off x="4397325" y="1836737"/>
            <a:ext cx="3397349" cy="1492473"/>
          </a:xfrm>
          <a:prstGeom prst="roundRect">
            <a:avLst>
              <a:gd name="adj" fmla="val 6595"/>
            </a:avLst>
          </a:prstGeom>
          <a:solidFill>
            <a:srgbClr val="FFFDF7"/>
          </a:solidFill>
          <a:ln w="6350">
            <a:solidFill>
              <a:srgbClr val="E3DCC6"/>
            </a:solidFill>
            <a:prstDash val="solid"/>
          </a:ln>
        </p:spPr>
        <p:txBody>
          <a:bodyPr/>
          <a:lstStyle/>
          <a:p>
            <a:endParaRPr lang="en-ZA"/>
          </a:p>
        </p:txBody>
      </p:sp>
      <p:pic>
        <p:nvPicPr>
          <p:cNvPr id="9" name="Image 1" descr="Key"/>
          <p:cNvPicPr>
            <a:picLocks noChangeAspect="1"/>
          </p:cNvPicPr>
          <p:nvPr/>
        </p:nvPicPr>
        <p:blipFill>
          <a:blip r:embed="rId4"/>
          <a:srcRect/>
          <a:stretch/>
        </p:blipFill>
        <p:spPr>
          <a:xfrm>
            <a:off x="4605238" y="2044650"/>
            <a:ext cx="279301" cy="279301"/>
          </a:xfrm>
          <a:prstGeom prst="rect">
            <a:avLst/>
          </a:prstGeom>
        </p:spPr>
      </p:pic>
      <p:sp>
        <p:nvSpPr>
          <p:cNvPr id="10" name="Text 6"/>
          <p:cNvSpPr/>
          <p:nvPr/>
        </p:nvSpPr>
        <p:spPr>
          <a:xfrm>
            <a:off x="4605238" y="2387451"/>
            <a:ext cx="307096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Authentication</a:t>
            </a:r>
            <a:endParaRPr lang="en-US" sz="1600" dirty="0"/>
          </a:p>
        </p:txBody>
      </p:sp>
      <p:sp>
        <p:nvSpPr>
          <p:cNvPr id="11" name="Text 7"/>
          <p:cNvSpPr/>
          <p:nvPr/>
        </p:nvSpPr>
        <p:spPr>
          <a:xfrm>
            <a:off x="4605238" y="2694657"/>
            <a:ext cx="307096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Salted hashes, lockout after 5 tries, rate limiting</a:t>
            </a:r>
            <a:endParaRPr lang="en-US" sz="1200" dirty="0"/>
          </a:p>
        </p:txBody>
      </p:sp>
      <p:sp>
        <p:nvSpPr>
          <p:cNvPr id="12" name="Shape 8"/>
          <p:cNvSpPr/>
          <p:nvPr/>
        </p:nvSpPr>
        <p:spPr>
          <a:xfrm>
            <a:off x="7978750" y="1836737"/>
            <a:ext cx="3397349" cy="1492473"/>
          </a:xfrm>
          <a:prstGeom prst="roundRect">
            <a:avLst>
              <a:gd name="adj" fmla="val 6595"/>
            </a:avLst>
          </a:prstGeom>
          <a:solidFill>
            <a:srgbClr val="FFFDF7"/>
          </a:solidFill>
          <a:ln w="6350">
            <a:solidFill>
              <a:srgbClr val="E3DCC6"/>
            </a:solidFill>
            <a:prstDash val="solid"/>
          </a:ln>
        </p:spPr>
        <p:txBody>
          <a:bodyPr/>
          <a:lstStyle/>
          <a:p>
            <a:endParaRPr lang="en-ZA"/>
          </a:p>
        </p:txBody>
      </p:sp>
      <p:pic>
        <p:nvPicPr>
          <p:cNvPr id="13" name="Image 2" descr="Verified"/>
          <p:cNvPicPr>
            <a:picLocks noChangeAspect="1"/>
          </p:cNvPicPr>
          <p:nvPr/>
        </p:nvPicPr>
        <p:blipFill>
          <a:blip r:embed="rId5"/>
          <a:srcRect/>
          <a:stretch/>
        </p:blipFill>
        <p:spPr>
          <a:xfrm>
            <a:off x="8186663" y="2044650"/>
            <a:ext cx="279301" cy="279301"/>
          </a:xfrm>
          <a:prstGeom prst="rect">
            <a:avLst/>
          </a:prstGeom>
        </p:spPr>
      </p:pic>
      <p:sp>
        <p:nvSpPr>
          <p:cNvPr id="14" name="Text 9"/>
          <p:cNvSpPr/>
          <p:nvPr/>
        </p:nvSpPr>
        <p:spPr>
          <a:xfrm>
            <a:off x="8186663" y="2387451"/>
            <a:ext cx="307096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CSRF and XSS</a:t>
            </a:r>
            <a:endParaRPr lang="en-US" sz="1600" dirty="0"/>
          </a:p>
        </p:txBody>
      </p:sp>
      <p:sp>
        <p:nvSpPr>
          <p:cNvPr id="15" name="Text 10"/>
          <p:cNvSpPr/>
          <p:nvPr/>
        </p:nvSpPr>
        <p:spPr>
          <a:xfrm>
            <a:off x="8186663" y="2694657"/>
            <a:ext cx="307096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Anti-forgery tokens; strict CSP with no inline script</a:t>
            </a:r>
            <a:endParaRPr lang="en-US" sz="1200" dirty="0"/>
          </a:p>
        </p:txBody>
      </p:sp>
      <p:sp>
        <p:nvSpPr>
          <p:cNvPr id="16" name="Shape 11"/>
          <p:cNvSpPr/>
          <p:nvPr/>
        </p:nvSpPr>
        <p:spPr>
          <a:xfrm>
            <a:off x="815901" y="3513286"/>
            <a:ext cx="3397349" cy="1492473"/>
          </a:xfrm>
          <a:prstGeom prst="roundRect">
            <a:avLst>
              <a:gd name="adj" fmla="val 6595"/>
            </a:avLst>
          </a:prstGeom>
          <a:solidFill>
            <a:srgbClr val="FFFDF7"/>
          </a:solidFill>
          <a:ln w="6350">
            <a:solidFill>
              <a:srgbClr val="E3DCC6"/>
            </a:solidFill>
            <a:prstDash val="solid"/>
          </a:ln>
        </p:spPr>
        <p:txBody>
          <a:bodyPr/>
          <a:lstStyle/>
          <a:p>
            <a:endParaRPr lang="en-ZA"/>
          </a:p>
        </p:txBody>
      </p:sp>
      <p:pic>
        <p:nvPicPr>
          <p:cNvPr id="17" name="Image 3" descr="Database"/>
          <p:cNvPicPr>
            <a:picLocks noChangeAspect="1"/>
          </p:cNvPicPr>
          <p:nvPr/>
        </p:nvPicPr>
        <p:blipFill>
          <a:blip r:embed="rId6"/>
          <a:srcRect/>
          <a:stretch/>
        </p:blipFill>
        <p:spPr>
          <a:xfrm>
            <a:off x="1023813" y="3721199"/>
            <a:ext cx="279301" cy="279301"/>
          </a:xfrm>
          <a:prstGeom prst="rect">
            <a:avLst/>
          </a:prstGeom>
        </p:spPr>
      </p:pic>
      <p:sp>
        <p:nvSpPr>
          <p:cNvPr id="18" name="Text 12"/>
          <p:cNvSpPr/>
          <p:nvPr/>
        </p:nvSpPr>
        <p:spPr>
          <a:xfrm>
            <a:off x="1023813" y="4064000"/>
            <a:ext cx="307096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Injection</a:t>
            </a:r>
            <a:endParaRPr lang="en-US" sz="1600" dirty="0"/>
          </a:p>
        </p:txBody>
      </p:sp>
      <p:sp>
        <p:nvSpPr>
          <p:cNvPr id="19" name="Text 13"/>
          <p:cNvSpPr/>
          <p:nvPr/>
        </p:nvSpPr>
        <p:spPr>
          <a:xfrm>
            <a:off x="1023813" y="4371206"/>
            <a:ext cx="307096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Parameterised SQL; validated input; safe CSV export</a:t>
            </a:r>
            <a:endParaRPr lang="en-US" sz="1200" dirty="0"/>
          </a:p>
        </p:txBody>
      </p:sp>
      <p:sp>
        <p:nvSpPr>
          <p:cNvPr id="20" name="Shape 14"/>
          <p:cNvSpPr/>
          <p:nvPr/>
        </p:nvSpPr>
        <p:spPr>
          <a:xfrm>
            <a:off x="4397325" y="3513286"/>
            <a:ext cx="3397349" cy="1492473"/>
          </a:xfrm>
          <a:prstGeom prst="roundRect">
            <a:avLst>
              <a:gd name="adj" fmla="val 6595"/>
            </a:avLst>
          </a:prstGeom>
          <a:solidFill>
            <a:srgbClr val="FFFDF7"/>
          </a:solidFill>
          <a:ln w="6350">
            <a:solidFill>
              <a:srgbClr val="E3DCC6"/>
            </a:solidFill>
            <a:prstDash val="solid"/>
          </a:ln>
        </p:spPr>
        <p:txBody>
          <a:bodyPr/>
          <a:lstStyle/>
          <a:p>
            <a:endParaRPr lang="en-ZA"/>
          </a:p>
        </p:txBody>
      </p:sp>
      <p:pic>
        <p:nvPicPr>
          <p:cNvPr id="21" name="Image 4" descr="Cloud"/>
          <p:cNvPicPr>
            <a:picLocks noChangeAspect="1"/>
          </p:cNvPicPr>
          <p:nvPr/>
        </p:nvPicPr>
        <p:blipFill>
          <a:blip r:embed="rId7"/>
          <a:srcRect/>
          <a:stretch/>
        </p:blipFill>
        <p:spPr>
          <a:xfrm>
            <a:off x="4605238" y="3721199"/>
            <a:ext cx="279301" cy="279301"/>
          </a:xfrm>
          <a:prstGeom prst="rect">
            <a:avLst/>
          </a:prstGeom>
        </p:spPr>
      </p:pic>
      <p:sp>
        <p:nvSpPr>
          <p:cNvPr id="22" name="Text 15"/>
          <p:cNvSpPr/>
          <p:nvPr/>
        </p:nvSpPr>
        <p:spPr>
          <a:xfrm>
            <a:off x="4605238" y="4064000"/>
            <a:ext cx="307096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Secrets</a:t>
            </a:r>
            <a:endParaRPr lang="en-US" sz="1600" dirty="0"/>
          </a:p>
        </p:txBody>
      </p:sp>
      <p:sp>
        <p:nvSpPr>
          <p:cNvPr id="23" name="Text 16"/>
          <p:cNvSpPr/>
          <p:nvPr/>
        </p:nvSpPr>
        <p:spPr>
          <a:xfrm>
            <a:off x="4605238" y="4371206"/>
            <a:ext cx="307096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Key Vault + managed identity; nothing in Git</a:t>
            </a:r>
            <a:endParaRPr lang="en-US" sz="1200" dirty="0"/>
          </a:p>
        </p:txBody>
      </p:sp>
      <p:sp>
        <p:nvSpPr>
          <p:cNvPr id="24" name="Shape 17"/>
          <p:cNvSpPr/>
          <p:nvPr/>
        </p:nvSpPr>
        <p:spPr>
          <a:xfrm>
            <a:off x="7978750" y="3513286"/>
            <a:ext cx="3397349" cy="1492473"/>
          </a:xfrm>
          <a:prstGeom prst="roundRect">
            <a:avLst>
              <a:gd name="adj" fmla="val 6595"/>
            </a:avLst>
          </a:prstGeom>
          <a:solidFill>
            <a:srgbClr val="FFFDF7"/>
          </a:solidFill>
          <a:ln w="6350">
            <a:solidFill>
              <a:srgbClr val="E3DCC6"/>
            </a:solidFill>
            <a:prstDash val="solid"/>
          </a:ln>
        </p:spPr>
        <p:txBody>
          <a:bodyPr/>
          <a:lstStyle/>
          <a:p>
            <a:endParaRPr lang="en-ZA"/>
          </a:p>
        </p:txBody>
      </p:sp>
      <p:pic>
        <p:nvPicPr>
          <p:cNvPr id="25" name="Image 5" descr="Users"/>
          <p:cNvPicPr>
            <a:picLocks noChangeAspect="1"/>
          </p:cNvPicPr>
          <p:nvPr/>
        </p:nvPicPr>
        <p:blipFill>
          <a:blip r:embed="rId8"/>
          <a:srcRect/>
          <a:stretch/>
        </p:blipFill>
        <p:spPr>
          <a:xfrm>
            <a:off x="8186663" y="3721199"/>
            <a:ext cx="279301" cy="279301"/>
          </a:xfrm>
          <a:prstGeom prst="rect">
            <a:avLst/>
          </a:prstGeom>
        </p:spPr>
      </p:pic>
      <p:sp>
        <p:nvSpPr>
          <p:cNvPr id="26" name="Text 18"/>
          <p:cNvSpPr/>
          <p:nvPr/>
        </p:nvSpPr>
        <p:spPr>
          <a:xfrm>
            <a:off x="8186663" y="4064000"/>
            <a:ext cx="307096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POPIA</a:t>
            </a:r>
            <a:endParaRPr lang="en-US" sz="1600" dirty="0"/>
          </a:p>
        </p:txBody>
      </p:sp>
      <p:sp>
        <p:nvSpPr>
          <p:cNvPr id="27" name="Text 19"/>
          <p:cNvSpPr/>
          <p:nvPr/>
        </p:nvSpPr>
        <p:spPr>
          <a:xfrm>
            <a:off x="8186663" y="4371206"/>
            <a:ext cx="31862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Consent, privacy notice, download my data</a:t>
            </a:r>
            <a:endParaRPr lang="en-US" sz="1200" dirty="0"/>
          </a:p>
        </p:txBody>
      </p:sp>
      <p:sp>
        <p:nvSpPr>
          <p:cNvPr id="28" name="Text 20"/>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HOSTING · MICROSOFT AZURE</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Live on Azure, in South Africa</a:t>
            </a:r>
            <a:endParaRPr lang="en-US" sz="3600" dirty="0"/>
          </a:p>
        </p:txBody>
      </p:sp>
      <p:sp>
        <p:nvSpPr>
          <p:cNvPr id="4" name="Shape 2"/>
          <p:cNvSpPr/>
          <p:nvPr/>
        </p:nvSpPr>
        <p:spPr>
          <a:xfrm>
            <a:off x="812726" y="1833563"/>
            <a:ext cx="6604000" cy="538386"/>
          </a:xfrm>
          <a:prstGeom prst="roundRect">
            <a:avLst>
              <a:gd name="adj" fmla="val 14153"/>
            </a:avLst>
          </a:prstGeom>
          <a:solidFill>
            <a:srgbClr val="EFE4C8"/>
          </a:solidFill>
          <a:ln/>
        </p:spPr>
        <p:txBody>
          <a:bodyPr/>
          <a:lstStyle/>
          <a:p>
            <a:endParaRPr lang="en-ZA"/>
          </a:p>
        </p:txBody>
      </p:sp>
      <p:pic>
        <p:nvPicPr>
          <p:cNvPr id="5" name="Image 0" descr="Code"/>
          <p:cNvPicPr>
            <a:picLocks noChangeAspect="1"/>
          </p:cNvPicPr>
          <p:nvPr/>
        </p:nvPicPr>
        <p:blipFill>
          <a:blip r:embed="rId3"/>
          <a:srcRect/>
          <a:stretch/>
        </p:blipFill>
        <p:spPr>
          <a:xfrm>
            <a:off x="990451" y="1975693"/>
            <a:ext cx="254000" cy="254000"/>
          </a:xfrm>
          <a:prstGeom prst="rect">
            <a:avLst/>
          </a:prstGeom>
        </p:spPr>
      </p:pic>
      <p:sp>
        <p:nvSpPr>
          <p:cNvPr id="6" name="Text 3"/>
          <p:cNvSpPr/>
          <p:nvPr/>
        </p:nvSpPr>
        <p:spPr>
          <a:xfrm>
            <a:off x="1346026" y="1960563"/>
            <a:ext cx="607069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3A2E"/>
                </a:solidFill>
                <a:latin typeface="Karla" pitchFamily="34" charset="0"/>
                <a:ea typeface="Karla" pitchFamily="34" charset="-122"/>
                <a:cs typeface="Karla" pitchFamily="34" charset="-120"/>
              </a:rPr>
              <a:t>GitHub Actions</a:t>
            </a:r>
            <a:r>
              <a:rPr lang="en-US" sz="1600" dirty="0">
                <a:solidFill>
                  <a:srgbClr val="1F3A2E"/>
                </a:solidFill>
                <a:latin typeface="Karla" pitchFamily="34" charset="0"/>
                <a:ea typeface="Karla" pitchFamily="34" charset="-122"/>
                <a:cs typeface="Karla" pitchFamily="34" charset="-120"/>
              </a:rPr>
              <a:t> · deploys with publish profiles kept as secrets</a:t>
            </a:r>
            <a:endParaRPr lang="en-US" sz="1600" dirty="0"/>
          </a:p>
        </p:txBody>
      </p:sp>
      <p:pic>
        <p:nvPicPr>
          <p:cNvPr id="7" name="Image 1" descr="arrow-down"/>
          <p:cNvPicPr>
            <a:picLocks noChangeAspect="1"/>
          </p:cNvPicPr>
          <p:nvPr/>
        </p:nvPicPr>
        <p:blipFill>
          <a:blip r:embed="rId4"/>
          <a:srcRect l="-12" r="-12"/>
          <a:stretch/>
        </p:blipFill>
        <p:spPr>
          <a:xfrm>
            <a:off x="3987726" y="2448099"/>
            <a:ext cx="254000" cy="304726"/>
          </a:xfrm>
          <a:prstGeom prst="rect">
            <a:avLst/>
          </a:prstGeom>
        </p:spPr>
      </p:pic>
      <p:sp>
        <p:nvSpPr>
          <p:cNvPr id="8" name="Shape 4"/>
          <p:cNvSpPr/>
          <p:nvPr/>
        </p:nvSpPr>
        <p:spPr>
          <a:xfrm>
            <a:off x="812726" y="2828975"/>
            <a:ext cx="6604000" cy="1081608"/>
          </a:xfrm>
          <a:prstGeom prst="roundRect">
            <a:avLst>
              <a:gd name="adj" fmla="val 7045"/>
            </a:avLst>
          </a:prstGeom>
          <a:solidFill>
            <a:srgbClr val="1F3A2E"/>
          </a:solidFill>
          <a:ln/>
        </p:spPr>
        <p:txBody>
          <a:bodyPr/>
          <a:lstStyle/>
          <a:p>
            <a:endParaRPr lang="en-ZA"/>
          </a:p>
        </p:txBody>
      </p:sp>
      <p:sp>
        <p:nvSpPr>
          <p:cNvPr id="9" name="Text 5"/>
          <p:cNvSpPr/>
          <p:nvPr/>
        </p:nvSpPr>
        <p:spPr>
          <a:xfrm>
            <a:off x="990451" y="2981275"/>
            <a:ext cx="6436005"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AF7EE"/>
                </a:solidFill>
                <a:latin typeface="Karla" pitchFamily="34" charset="0"/>
                <a:ea typeface="Karla" pitchFamily="34" charset="-122"/>
                <a:cs typeface="Karla" pitchFamily="34" charset="-120"/>
              </a:rPr>
              <a:t>App Service</a:t>
            </a:r>
            <a:r>
              <a:rPr lang="en-US" sz="1600" dirty="0">
                <a:solidFill>
                  <a:srgbClr val="FAF7EE"/>
                </a:solidFill>
                <a:latin typeface="Karla" pitchFamily="34" charset="0"/>
                <a:ea typeface="Karla" pitchFamily="34" charset="-122"/>
                <a:cs typeface="Karla" pitchFamily="34" charset="-120"/>
              </a:rPr>
              <a:t> (.NET 8, HTTPS only)</a:t>
            </a:r>
            <a:endParaRPr lang="en-US" sz="1600" dirty="0"/>
          </a:p>
        </p:txBody>
      </p:sp>
      <p:sp>
        <p:nvSpPr>
          <p:cNvPr id="10" name="Text 6"/>
          <p:cNvSpPr/>
          <p:nvPr/>
        </p:nvSpPr>
        <p:spPr>
          <a:xfrm>
            <a:off x="990451" y="3341812"/>
            <a:ext cx="3073425" cy="416471"/>
          </a:xfrm>
          <a:prstGeom prst="roundRect">
            <a:avLst>
              <a:gd name="adj" fmla="val 12198"/>
            </a:avLst>
          </a:prstGeom>
          <a:solidFill>
            <a:srgbClr val="2A4A3A"/>
          </a:solidFill>
          <a:ln/>
        </p:spPr>
        <p:txBody>
          <a:bodyPr wrap="square" lIns="43668" tIns="86721" rIns="43668" bIns="61321" rtlCol="0" anchor="t">
            <a:normAutofit/>
          </a:bodyPr>
          <a:lstStyle/>
          <a:p>
            <a:pPr marL="0" indent="0" algn="ctr">
              <a:lnSpc>
                <a:spcPts val="1680"/>
              </a:lnSpc>
              <a:buNone/>
            </a:pPr>
            <a:r>
              <a:rPr lang="en-US" sz="1200" dirty="0">
                <a:solidFill>
                  <a:srgbClr val="EFE4C8"/>
                </a:solidFill>
                <a:latin typeface="Karla" pitchFamily="34" charset="0"/>
                <a:ea typeface="Karla" pitchFamily="34" charset="-122"/>
                <a:cs typeface="Karla" pitchFamily="34" charset="-120"/>
              </a:rPr>
              <a:t>Staging app · demo data</a:t>
            </a:r>
            <a:endParaRPr lang="en-US" sz="1200" dirty="0"/>
          </a:p>
        </p:txBody>
      </p:sp>
      <p:sp>
        <p:nvSpPr>
          <p:cNvPr id="11" name="Text 7"/>
          <p:cNvSpPr/>
          <p:nvPr/>
        </p:nvSpPr>
        <p:spPr>
          <a:xfrm>
            <a:off x="4165451" y="3341812"/>
            <a:ext cx="3073549" cy="416471"/>
          </a:xfrm>
          <a:prstGeom prst="roundRect">
            <a:avLst>
              <a:gd name="adj" fmla="val 12198"/>
            </a:avLst>
          </a:prstGeom>
          <a:solidFill>
            <a:srgbClr val="E8A33D"/>
          </a:solidFill>
          <a:ln/>
        </p:spPr>
        <p:txBody>
          <a:bodyPr wrap="square" lIns="43666" tIns="86721" rIns="43666" bIns="61321" rtlCol="0" anchor="t">
            <a:normAutofit/>
          </a:bodyPr>
          <a:lstStyle/>
          <a:p>
            <a:pPr marL="0" indent="0" algn="ctr">
              <a:lnSpc>
                <a:spcPts val="1680"/>
              </a:lnSpc>
              <a:buNone/>
            </a:pPr>
            <a:r>
              <a:rPr lang="en-US" sz="1200" dirty="0">
                <a:solidFill>
                  <a:srgbClr val="153025"/>
                </a:solidFill>
                <a:latin typeface="Karla" pitchFamily="34" charset="0"/>
                <a:ea typeface="Karla" pitchFamily="34" charset="-122"/>
                <a:cs typeface="Karla" pitchFamily="34" charset="-120"/>
              </a:rPr>
              <a:t>Production app · real data</a:t>
            </a:r>
            <a:endParaRPr lang="en-US" sz="1200" dirty="0"/>
          </a:p>
        </p:txBody>
      </p:sp>
      <p:pic>
        <p:nvPicPr>
          <p:cNvPr id="12" name="Image 2" descr="arrow-down"/>
          <p:cNvPicPr>
            <a:picLocks noChangeAspect="1"/>
          </p:cNvPicPr>
          <p:nvPr/>
        </p:nvPicPr>
        <p:blipFill>
          <a:blip r:embed="rId4"/>
          <a:srcRect l="-12" r="-12"/>
          <a:stretch/>
        </p:blipFill>
        <p:spPr>
          <a:xfrm>
            <a:off x="3987726" y="3986733"/>
            <a:ext cx="254000" cy="304726"/>
          </a:xfrm>
          <a:prstGeom prst="rect">
            <a:avLst/>
          </a:prstGeom>
        </p:spPr>
      </p:pic>
      <p:sp>
        <p:nvSpPr>
          <p:cNvPr id="13" name="Text 8"/>
          <p:cNvSpPr/>
          <p:nvPr/>
        </p:nvSpPr>
        <p:spPr>
          <a:xfrm>
            <a:off x="812726" y="4367609"/>
            <a:ext cx="2133575" cy="680641"/>
          </a:xfrm>
          <a:prstGeom prst="roundRect">
            <a:avLst>
              <a:gd name="adj" fmla="val 11195"/>
            </a:avLst>
          </a:prstGeom>
          <a:solidFill>
            <a:srgbClr val="EFE4C8"/>
          </a:solidFill>
          <a:ln/>
        </p:spPr>
        <p:txBody>
          <a:bodyPr wrap="square" lIns="24164" tIns="104682" rIns="24164" bIns="79282" rtlCol="0" anchor="t">
            <a:normAutofit/>
          </a:bodyPr>
          <a:lstStyle/>
          <a:p>
            <a:pPr marL="0" indent="0" algn="ctr">
              <a:lnSpc>
                <a:spcPts val="1680"/>
              </a:lnSpc>
              <a:buNone/>
            </a:pPr>
            <a:r>
              <a:rPr lang="en-US" sz="1200" b="1" dirty="0">
                <a:solidFill>
                  <a:srgbClr val="1F3A2E"/>
                </a:solidFill>
                <a:latin typeface="Karla" pitchFamily="34" charset="0"/>
                <a:ea typeface="Karla" pitchFamily="34" charset="-122"/>
                <a:cs typeface="Karla" pitchFamily="34" charset="-120"/>
              </a:rPr>
              <a:t>PostgreSQL</a:t>
            </a:r>
            <a:endParaRPr lang="en-US" sz="1200" dirty="0"/>
          </a:p>
          <a:p>
            <a:pPr marL="0" indent="0" algn="ctr">
              <a:lnSpc>
                <a:spcPts val="1680"/>
              </a:lnSpc>
              <a:buNone/>
            </a:pPr>
            <a:r>
              <a:rPr lang="en-US" sz="1200" dirty="0">
                <a:solidFill>
                  <a:srgbClr val="1F3A2E"/>
                </a:solidFill>
                <a:latin typeface="Karla" pitchFamily="34" charset="0"/>
                <a:ea typeface="Karla" pitchFamily="34" charset="-122"/>
                <a:cs typeface="Karla" pitchFamily="34" charset="-120"/>
              </a:rPr>
              <a:t>one database each</a:t>
            </a:r>
            <a:endParaRPr lang="en-US" sz="1200" dirty="0"/>
          </a:p>
        </p:txBody>
      </p:sp>
      <p:sp>
        <p:nvSpPr>
          <p:cNvPr id="14" name="Text 9"/>
          <p:cNvSpPr/>
          <p:nvPr/>
        </p:nvSpPr>
        <p:spPr>
          <a:xfrm>
            <a:off x="3047876" y="4367609"/>
            <a:ext cx="2133699" cy="680641"/>
          </a:xfrm>
          <a:prstGeom prst="roundRect">
            <a:avLst>
              <a:gd name="adj" fmla="val 11195"/>
            </a:avLst>
          </a:prstGeom>
          <a:solidFill>
            <a:srgbClr val="EFE4C8"/>
          </a:solidFill>
          <a:ln/>
        </p:spPr>
        <p:txBody>
          <a:bodyPr wrap="square" lIns="24162" tIns="104682" rIns="24162" bIns="79282" rtlCol="0" anchor="t">
            <a:normAutofit/>
          </a:bodyPr>
          <a:lstStyle/>
          <a:p>
            <a:pPr marL="0" indent="0" algn="ctr">
              <a:lnSpc>
                <a:spcPts val="1680"/>
              </a:lnSpc>
              <a:buNone/>
            </a:pPr>
            <a:r>
              <a:rPr lang="en-US" sz="1200" b="1" dirty="0">
                <a:solidFill>
                  <a:srgbClr val="1F3A2E"/>
                </a:solidFill>
                <a:latin typeface="Karla" pitchFamily="34" charset="0"/>
                <a:ea typeface="Karla" pitchFamily="34" charset="-122"/>
                <a:cs typeface="Karla" pitchFamily="34" charset="-120"/>
              </a:rPr>
              <a:t>App settings</a:t>
            </a:r>
            <a:endParaRPr lang="en-US" sz="1200" dirty="0"/>
          </a:p>
          <a:p>
            <a:pPr marL="0" indent="0" algn="ctr">
              <a:lnSpc>
                <a:spcPts val="1680"/>
              </a:lnSpc>
              <a:buNone/>
            </a:pPr>
            <a:r>
              <a:rPr lang="en-US" sz="1200" dirty="0">
                <a:solidFill>
                  <a:srgbClr val="1F3A2E"/>
                </a:solidFill>
                <a:latin typeface="Karla" pitchFamily="34" charset="0"/>
                <a:ea typeface="Karla" pitchFamily="34" charset="-122"/>
                <a:cs typeface="Karla" pitchFamily="34" charset="-120"/>
              </a:rPr>
              <a:t>secrets, not code</a:t>
            </a:r>
            <a:endParaRPr lang="en-US" sz="1200" dirty="0"/>
          </a:p>
        </p:txBody>
      </p:sp>
      <p:sp>
        <p:nvSpPr>
          <p:cNvPr id="15" name="Text 10"/>
          <p:cNvSpPr/>
          <p:nvPr/>
        </p:nvSpPr>
        <p:spPr>
          <a:xfrm>
            <a:off x="5283150" y="4367609"/>
            <a:ext cx="2133575" cy="680641"/>
          </a:xfrm>
          <a:prstGeom prst="roundRect">
            <a:avLst>
              <a:gd name="adj" fmla="val 11195"/>
            </a:avLst>
          </a:prstGeom>
          <a:solidFill>
            <a:srgbClr val="EFE4C8"/>
          </a:solidFill>
          <a:ln/>
        </p:spPr>
        <p:txBody>
          <a:bodyPr wrap="square" lIns="24164" tIns="104682" rIns="24164" bIns="79282" rtlCol="0" anchor="t">
            <a:normAutofit/>
          </a:bodyPr>
          <a:lstStyle/>
          <a:p>
            <a:pPr marL="0" indent="0" algn="ctr">
              <a:lnSpc>
                <a:spcPts val="1680"/>
              </a:lnSpc>
              <a:buNone/>
            </a:pPr>
            <a:r>
              <a:rPr lang="en-US" sz="1200" b="1" dirty="0">
                <a:solidFill>
                  <a:srgbClr val="1F3A2E"/>
                </a:solidFill>
                <a:latin typeface="Karla" pitchFamily="34" charset="0"/>
                <a:ea typeface="Karla" pitchFamily="34" charset="-122"/>
                <a:cs typeface="Karla" pitchFamily="34" charset="-120"/>
              </a:rPr>
              <a:t>/health</a:t>
            </a:r>
            <a:endParaRPr lang="en-US" sz="1200" dirty="0"/>
          </a:p>
          <a:p>
            <a:pPr marL="0" indent="0" algn="ctr">
              <a:lnSpc>
                <a:spcPts val="1680"/>
              </a:lnSpc>
              <a:buNone/>
            </a:pPr>
            <a:r>
              <a:rPr lang="en-US" sz="1200" dirty="0">
                <a:solidFill>
                  <a:srgbClr val="1F3A2E"/>
                </a:solidFill>
                <a:latin typeface="Karla" pitchFamily="34" charset="0"/>
                <a:ea typeface="Karla" pitchFamily="34" charset="-122"/>
                <a:cs typeface="Karla" pitchFamily="34" charset="-120"/>
              </a:rPr>
              <a:t>and /version</a:t>
            </a:r>
            <a:endParaRPr lang="en-US" sz="1200" dirty="0"/>
          </a:p>
        </p:txBody>
      </p:sp>
      <p:sp>
        <p:nvSpPr>
          <p:cNvPr id="16" name="Text 11"/>
          <p:cNvSpPr/>
          <p:nvPr/>
        </p:nvSpPr>
        <p:spPr>
          <a:xfrm>
            <a:off x="7772301" y="1833563"/>
            <a:ext cx="3715183" cy="573832"/>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Running now</a:t>
            </a:r>
            <a:r>
              <a:rPr lang="en-US" sz="1600" dirty="0">
                <a:solidFill>
                  <a:srgbClr val="262420"/>
                </a:solidFill>
                <a:latin typeface="Karla" pitchFamily="34" charset="0"/>
                <a:ea typeface="Karla" pitchFamily="34" charset="-122"/>
                <a:cs typeface="Karla" pitchFamily="34" charset="-120"/>
              </a:rPr>
              <a:t> in production and staging</a:t>
            </a:r>
            <a:endParaRPr lang="en-US" sz="1600" dirty="0"/>
          </a:p>
        </p:txBody>
      </p:sp>
      <p:sp>
        <p:nvSpPr>
          <p:cNvPr id="17" name="Text 12"/>
          <p:cNvSpPr/>
          <p:nvPr/>
        </p:nvSpPr>
        <p:spPr>
          <a:xfrm>
            <a:off x="7772301" y="2559720"/>
            <a:ext cx="3715183" cy="299616"/>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Firewalled</a:t>
            </a:r>
            <a:r>
              <a:rPr lang="en-US" sz="1600" dirty="0">
                <a:solidFill>
                  <a:srgbClr val="262420"/>
                </a:solidFill>
                <a:latin typeface="Karla" pitchFamily="34" charset="0"/>
                <a:ea typeface="Karla" pitchFamily="34" charset="-122"/>
                <a:cs typeface="Karla" pitchFamily="34" charset="-120"/>
              </a:rPr>
              <a:t> database only our apps</a:t>
            </a:r>
            <a:endParaRPr lang="en-US" sz="1600" dirty="0"/>
          </a:p>
        </p:txBody>
      </p:sp>
      <p:sp>
        <p:nvSpPr>
          <p:cNvPr id="18" name="Text 13"/>
          <p:cNvSpPr/>
          <p:nvPr/>
        </p:nvSpPr>
        <p:spPr>
          <a:xfrm>
            <a:off x="7772301" y="3011661"/>
            <a:ext cx="3715183" cy="299616"/>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Every release</a:t>
            </a:r>
            <a:r>
              <a:rPr lang="en-US" sz="1600" dirty="0">
                <a:solidFill>
                  <a:srgbClr val="262420"/>
                </a:solidFill>
                <a:latin typeface="Karla" pitchFamily="34" charset="0"/>
                <a:ea typeface="Karla" pitchFamily="34" charset="-122"/>
                <a:cs typeface="Karla" pitchFamily="34" charset="-120"/>
              </a:rPr>
              <a:t> checked live</a:t>
            </a:r>
            <a:endParaRPr lang="en-US" sz="1600" dirty="0"/>
          </a:p>
        </p:txBody>
      </p:sp>
      <p:sp>
        <p:nvSpPr>
          <p:cNvPr id="19" name="Text 14"/>
          <p:cNvSpPr/>
          <p:nvPr/>
        </p:nvSpPr>
        <p:spPr>
          <a:xfrm>
            <a:off x="7772301" y="3463603"/>
            <a:ext cx="3715183" cy="573832"/>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Bicep + S1</a:t>
            </a:r>
            <a:r>
              <a:rPr lang="en-US" sz="1600" dirty="0">
                <a:solidFill>
                  <a:srgbClr val="262420"/>
                </a:solidFill>
                <a:latin typeface="Karla" pitchFamily="34" charset="0"/>
                <a:ea typeface="Karla" pitchFamily="34" charset="-122"/>
                <a:cs typeface="Karla" pitchFamily="34" charset="-120"/>
              </a:rPr>
              <a:t> adds slots, Key Vault and App Insights</a:t>
            </a:r>
            <a:endParaRPr lang="en-US" sz="1600" dirty="0"/>
          </a:p>
        </p:txBody>
      </p:sp>
      <p:sp>
        <p:nvSpPr>
          <p:cNvPr id="20" name="Text 15"/>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GITHUB · BRANCHING</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Gitflow, every change reviewed</a:t>
            </a:r>
            <a:endParaRPr lang="en-US" sz="3600" dirty="0"/>
          </a:p>
        </p:txBody>
      </p:sp>
      <p:sp>
        <p:nvSpPr>
          <p:cNvPr id="4" name="Text 2"/>
          <p:cNvSpPr/>
          <p:nvPr/>
        </p:nvSpPr>
        <p:spPr>
          <a:xfrm>
            <a:off x="812726" y="2062138"/>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3A2E"/>
                </a:solidFill>
                <a:latin typeface="Space Mono" pitchFamily="49" charset="0"/>
                <a:ea typeface="Space Mono" pitchFamily="49" charset="-122"/>
                <a:cs typeface="Space Mono" pitchFamily="49" charset="-120"/>
              </a:rPr>
              <a:t>main</a:t>
            </a:r>
            <a:endParaRPr lang="en-US" sz="1200" dirty="0"/>
          </a:p>
        </p:txBody>
      </p:sp>
      <p:sp>
        <p:nvSpPr>
          <p:cNvPr id="5" name="Text 3"/>
          <p:cNvSpPr/>
          <p:nvPr/>
        </p:nvSpPr>
        <p:spPr>
          <a:xfrm>
            <a:off x="812726" y="3078138"/>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3A2E"/>
                </a:solidFill>
                <a:latin typeface="Space Mono" pitchFamily="49" charset="0"/>
                <a:ea typeface="Space Mono" pitchFamily="49" charset="-122"/>
                <a:cs typeface="Space Mono" pitchFamily="49" charset="-120"/>
              </a:rPr>
              <a:t>develop</a:t>
            </a:r>
            <a:endParaRPr lang="en-US" sz="1200" dirty="0"/>
          </a:p>
        </p:txBody>
      </p:sp>
      <p:sp>
        <p:nvSpPr>
          <p:cNvPr id="6" name="Text 4"/>
          <p:cNvSpPr/>
          <p:nvPr/>
        </p:nvSpPr>
        <p:spPr>
          <a:xfrm>
            <a:off x="812726" y="4094138"/>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5A12"/>
                </a:solidFill>
                <a:latin typeface="Space Mono" pitchFamily="49" charset="0"/>
                <a:ea typeface="Space Mono" pitchFamily="49" charset="-122"/>
                <a:cs typeface="Space Mono" pitchFamily="49" charset="-120"/>
              </a:rPr>
              <a:t>feature/*</a:t>
            </a:r>
            <a:endParaRPr lang="en-US" sz="1200" dirty="0"/>
          </a:p>
        </p:txBody>
      </p:sp>
      <p:pic>
        <p:nvPicPr>
          <p:cNvPr id="7" name="Image 0" descr="connector"/>
          <p:cNvPicPr>
            <a:picLocks noChangeAspect="1"/>
          </p:cNvPicPr>
          <p:nvPr/>
        </p:nvPicPr>
        <p:blipFill>
          <a:blip r:embed="rId3"/>
          <a:srcRect/>
          <a:stretch/>
        </p:blipFill>
        <p:spPr>
          <a:xfrm>
            <a:off x="1923976" y="2081113"/>
            <a:ext cx="5270500" cy="190500"/>
          </a:xfrm>
          <a:prstGeom prst="rect">
            <a:avLst/>
          </a:prstGeom>
        </p:spPr>
      </p:pic>
      <p:pic>
        <p:nvPicPr>
          <p:cNvPr id="8" name="Image 1" descr="connector"/>
          <p:cNvPicPr>
            <a:picLocks noChangeAspect="1"/>
          </p:cNvPicPr>
          <p:nvPr/>
        </p:nvPicPr>
        <p:blipFill>
          <a:blip r:embed="rId4"/>
          <a:srcRect/>
          <a:stretch/>
        </p:blipFill>
        <p:spPr>
          <a:xfrm>
            <a:off x="1923976" y="3097113"/>
            <a:ext cx="5270500" cy="190500"/>
          </a:xfrm>
          <a:prstGeom prst="rect">
            <a:avLst/>
          </a:prstGeom>
        </p:spPr>
      </p:pic>
      <p:pic>
        <p:nvPicPr>
          <p:cNvPr id="9" name="Image 2" descr="connector"/>
          <p:cNvPicPr>
            <a:picLocks noChangeAspect="1"/>
          </p:cNvPicPr>
          <p:nvPr/>
        </p:nvPicPr>
        <p:blipFill>
          <a:blip r:embed="rId5"/>
          <a:srcRect/>
          <a:stretch/>
        </p:blipFill>
        <p:spPr>
          <a:xfrm>
            <a:off x="2400226" y="3128863"/>
            <a:ext cx="762000" cy="1143000"/>
          </a:xfrm>
          <a:prstGeom prst="rect">
            <a:avLst/>
          </a:prstGeom>
        </p:spPr>
      </p:pic>
      <p:pic>
        <p:nvPicPr>
          <p:cNvPr id="10" name="Image 3" descr="connector"/>
          <p:cNvPicPr>
            <a:picLocks noChangeAspect="1"/>
          </p:cNvPicPr>
          <p:nvPr/>
        </p:nvPicPr>
        <p:blipFill>
          <a:blip r:embed="rId6"/>
          <a:srcRect/>
          <a:stretch/>
        </p:blipFill>
        <p:spPr>
          <a:xfrm>
            <a:off x="3003476" y="4113113"/>
            <a:ext cx="1460500" cy="190500"/>
          </a:xfrm>
          <a:prstGeom prst="rect">
            <a:avLst/>
          </a:prstGeom>
        </p:spPr>
      </p:pic>
      <p:pic>
        <p:nvPicPr>
          <p:cNvPr id="11" name="Image 4" descr="connector"/>
          <p:cNvPicPr>
            <a:picLocks noChangeAspect="1"/>
          </p:cNvPicPr>
          <p:nvPr/>
        </p:nvPicPr>
        <p:blipFill>
          <a:blip r:embed="rId7"/>
          <a:srcRect/>
          <a:stretch/>
        </p:blipFill>
        <p:spPr>
          <a:xfrm>
            <a:off x="4305226" y="3128863"/>
            <a:ext cx="762000" cy="1143000"/>
          </a:xfrm>
          <a:prstGeom prst="rect">
            <a:avLst/>
          </a:prstGeom>
        </p:spPr>
      </p:pic>
      <p:pic>
        <p:nvPicPr>
          <p:cNvPr id="12" name="Image 5" descr="connector"/>
          <p:cNvPicPr>
            <a:picLocks noChangeAspect="1"/>
          </p:cNvPicPr>
          <p:nvPr/>
        </p:nvPicPr>
        <p:blipFill>
          <a:blip r:embed="rId8"/>
          <a:srcRect/>
          <a:stretch/>
        </p:blipFill>
        <p:spPr>
          <a:xfrm>
            <a:off x="5575226" y="2112863"/>
            <a:ext cx="762000" cy="1143000"/>
          </a:xfrm>
          <a:prstGeom prst="rect">
            <a:avLst/>
          </a:prstGeom>
        </p:spPr>
      </p:pic>
      <p:pic>
        <p:nvPicPr>
          <p:cNvPr id="13" name="Image 6" descr="ellipse"/>
          <p:cNvPicPr>
            <a:picLocks noChangeAspect="1"/>
          </p:cNvPicPr>
          <p:nvPr/>
        </p:nvPicPr>
        <p:blipFill>
          <a:blip r:embed="rId9"/>
          <a:srcRect/>
          <a:stretch/>
        </p:blipFill>
        <p:spPr>
          <a:xfrm>
            <a:off x="2374801" y="3103563"/>
            <a:ext cx="177726" cy="177726"/>
          </a:xfrm>
          <a:prstGeom prst="rect">
            <a:avLst/>
          </a:prstGeom>
        </p:spPr>
      </p:pic>
      <p:pic>
        <p:nvPicPr>
          <p:cNvPr id="14" name="Image 7" descr="ellipse"/>
          <p:cNvPicPr>
            <a:picLocks noChangeAspect="1"/>
          </p:cNvPicPr>
          <p:nvPr/>
        </p:nvPicPr>
        <p:blipFill>
          <a:blip r:embed="rId10"/>
          <a:srcRect/>
          <a:stretch/>
        </p:blipFill>
        <p:spPr>
          <a:xfrm>
            <a:off x="3644801" y="4119562"/>
            <a:ext cx="177726" cy="177726"/>
          </a:xfrm>
          <a:prstGeom prst="rect">
            <a:avLst/>
          </a:prstGeom>
        </p:spPr>
      </p:pic>
      <p:pic>
        <p:nvPicPr>
          <p:cNvPr id="15" name="Image 8" descr="ellipse"/>
          <p:cNvPicPr>
            <a:picLocks noChangeAspect="1"/>
          </p:cNvPicPr>
          <p:nvPr/>
        </p:nvPicPr>
        <p:blipFill>
          <a:blip r:embed="rId9"/>
          <a:srcRect/>
          <a:stretch/>
        </p:blipFill>
        <p:spPr>
          <a:xfrm>
            <a:off x="4914801" y="3103563"/>
            <a:ext cx="177726" cy="177726"/>
          </a:xfrm>
          <a:prstGeom prst="rect">
            <a:avLst/>
          </a:prstGeom>
        </p:spPr>
      </p:pic>
      <p:pic>
        <p:nvPicPr>
          <p:cNvPr id="16" name="Image 9" descr="ellipse"/>
          <p:cNvPicPr>
            <a:picLocks noChangeAspect="1"/>
          </p:cNvPicPr>
          <p:nvPr/>
        </p:nvPicPr>
        <p:blipFill>
          <a:blip r:embed="rId11"/>
          <a:srcRect/>
          <a:stretch/>
        </p:blipFill>
        <p:spPr>
          <a:xfrm>
            <a:off x="6184801" y="2087563"/>
            <a:ext cx="177726" cy="177726"/>
          </a:xfrm>
          <a:prstGeom prst="rect">
            <a:avLst/>
          </a:prstGeom>
        </p:spPr>
      </p:pic>
      <p:sp>
        <p:nvSpPr>
          <p:cNvPr id="17" name="Text 5"/>
          <p:cNvSpPr/>
          <p:nvPr/>
        </p:nvSpPr>
        <p:spPr>
          <a:xfrm>
            <a:off x="3797226" y="4500563"/>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PR + review + CI</a:t>
            </a:r>
            <a:endParaRPr lang="en-US" sz="1200" dirty="0"/>
          </a:p>
        </p:txBody>
      </p:sp>
      <p:sp>
        <p:nvSpPr>
          <p:cNvPr id="18" name="Text 6"/>
          <p:cNvSpPr/>
          <p:nvPr/>
        </p:nvSpPr>
        <p:spPr>
          <a:xfrm>
            <a:off x="5003726" y="3421063"/>
            <a:ext cx="1447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 staging</a:t>
            </a:r>
            <a:endParaRPr lang="en-US" sz="1200" dirty="0"/>
          </a:p>
        </p:txBody>
      </p:sp>
      <p:sp>
        <p:nvSpPr>
          <p:cNvPr id="19" name="Text 7"/>
          <p:cNvSpPr/>
          <p:nvPr/>
        </p:nvSpPr>
        <p:spPr>
          <a:xfrm>
            <a:off x="6400726" y="2341563"/>
            <a:ext cx="81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 live</a:t>
            </a:r>
            <a:endParaRPr lang="en-US" sz="1200" dirty="0"/>
          </a:p>
        </p:txBody>
      </p:sp>
      <p:sp>
        <p:nvSpPr>
          <p:cNvPr id="20" name="Text 8"/>
          <p:cNvSpPr/>
          <p:nvPr/>
        </p:nvSpPr>
        <p:spPr>
          <a:xfrm>
            <a:off x="7569026" y="1833563"/>
            <a:ext cx="3924555" cy="299616"/>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Protected</a:t>
            </a:r>
            <a:r>
              <a:rPr lang="en-US" sz="1600" dirty="0">
                <a:solidFill>
                  <a:srgbClr val="262420"/>
                </a:solidFill>
                <a:latin typeface="Karla" pitchFamily="34" charset="0"/>
                <a:ea typeface="Karla" pitchFamily="34" charset="-122"/>
                <a:cs typeface="Karla" pitchFamily="34" charset="-120"/>
              </a:rPr>
              <a:t> main and develop</a:t>
            </a:r>
            <a:endParaRPr lang="en-US" sz="1600" dirty="0"/>
          </a:p>
        </p:txBody>
      </p:sp>
      <p:sp>
        <p:nvSpPr>
          <p:cNvPr id="21" name="Text 9"/>
          <p:cNvSpPr/>
          <p:nvPr/>
        </p:nvSpPr>
        <p:spPr>
          <a:xfrm>
            <a:off x="7569026" y="2285504"/>
            <a:ext cx="3924555" cy="299616"/>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1 approval</a:t>
            </a:r>
            <a:r>
              <a:rPr lang="en-US" sz="1600" dirty="0">
                <a:solidFill>
                  <a:srgbClr val="262420"/>
                </a:solidFill>
                <a:latin typeface="Karla" pitchFamily="34" charset="0"/>
                <a:ea typeface="Karla" pitchFamily="34" charset="-122"/>
                <a:cs typeface="Karla" pitchFamily="34" charset="-120"/>
              </a:rPr>
              <a:t> + green CI to merge</a:t>
            </a:r>
            <a:endParaRPr lang="en-US" sz="1600" dirty="0"/>
          </a:p>
        </p:txBody>
      </p:sp>
      <p:sp>
        <p:nvSpPr>
          <p:cNvPr id="22" name="Text 10"/>
          <p:cNvSpPr/>
          <p:nvPr/>
        </p:nvSpPr>
        <p:spPr>
          <a:xfrm>
            <a:off x="7569026" y="2737445"/>
            <a:ext cx="3924555" cy="299616"/>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Conventional</a:t>
            </a:r>
            <a:r>
              <a:rPr lang="en-US" sz="1600" dirty="0">
                <a:solidFill>
                  <a:srgbClr val="262420"/>
                </a:solidFill>
                <a:latin typeface="Karla" pitchFamily="34" charset="0"/>
                <a:ea typeface="Karla" pitchFamily="34" charset="-122"/>
                <a:cs typeface="Karla" pitchFamily="34" charset="-120"/>
              </a:rPr>
              <a:t> commit messages</a:t>
            </a:r>
            <a:endParaRPr lang="en-US" sz="1600" dirty="0"/>
          </a:p>
        </p:txBody>
      </p:sp>
      <p:sp>
        <p:nvSpPr>
          <p:cNvPr id="23" name="Text 11"/>
          <p:cNvSpPr/>
          <p:nvPr/>
        </p:nvSpPr>
        <p:spPr>
          <a:xfrm>
            <a:off x="7569026" y="3189387"/>
            <a:ext cx="3924555" cy="299616"/>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62420"/>
                </a:solidFill>
                <a:latin typeface="Karla" pitchFamily="34" charset="0"/>
                <a:ea typeface="Karla" pitchFamily="34" charset="-122"/>
                <a:cs typeface="Karla" pitchFamily="34" charset="-120"/>
              </a:rPr>
              <a:t>Dependabot</a:t>
            </a:r>
            <a:r>
              <a:rPr lang="en-US" sz="1600" dirty="0">
                <a:solidFill>
                  <a:srgbClr val="262420"/>
                </a:solidFill>
                <a:latin typeface="Karla" pitchFamily="34" charset="0"/>
                <a:ea typeface="Karla" pitchFamily="34" charset="-122"/>
                <a:cs typeface="Karla" pitchFamily="34" charset="-120"/>
              </a:rPr>
              <a:t> weekly updates</a:t>
            </a:r>
            <a:endParaRPr lang="en-US" sz="1600" dirty="0"/>
          </a:p>
        </p:txBody>
      </p:sp>
      <p:sp>
        <p:nvSpPr>
          <p:cNvPr id="24" name="Text 12"/>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CI/CD · GITHUB ACTIONS</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From pull request to production</a:t>
            </a:r>
            <a:endParaRPr lang="en-US" sz="3600" dirty="0"/>
          </a:p>
        </p:txBody>
      </p:sp>
      <p:sp>
        <p:nvSpPr>
          <p:cNvPr id="4" name="Shape 2"/>
          <p:cNvSpPr/>
          <p:nvPr/>
        </p:nvSpPr>
        <p:spPr>
          <a:xfrm>
            <a:off x="812726" y="1833563"/>
            <a:ext cx="2298774" cy="2562696"/>
          </a:xfrm>
          <a:prstGeom prst="roundRect">
            <a:avLst>
              <a:gd name="adj" fmla="val 4420"/>
            </a:avLst>
          </a:prstGeom>
          <a:solidFill>
            <a:srgbClr val="1F3A2E"/>
          </a:solidFill>
          <a:ln/>
        </p:spPr>
        <p:txBody>
          <a:bodyPr/>
          <a:lstStyle/>
          <a:p>
            <a:endParaRPr lang="en-ZA"/>
          </a:p>
        </p:txBody>
      </p:sp>
      <p:sp>
        <p:nvSpPr>
          <p:cNvPr id="5" name="Text 3"/>
          <p:cNvSpPr/>
          <p:nvPr/>
        </p:nvSpPr>
        <p:spPr>
          <a:xfrm>
            <a:off x="1015876" y="2036713"/>
            <a:ext cx="19492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A33D"/>
                </a:solidFill>
                <a:latin typeface="Space Mono" pitchFamily="49" charset="0"/>
                <a:ea typeface="Space Mono" pitchFamily="49" charset="-122"/>
                <a:cs typeface="Space Mono" pitchFamily="49" charset="-120"/>
              </a:rPr>
              <a:t>1 · EVERY PR</a:t>
            </a:r>
            <a:endParaRPr lang="en-US" sz="1200" dirty="0"/>
          </a:p>
        </p:txBody>
      </p:sp>
      <p:sp>
        <p:nvSpPr>
          <p:cNvPr id="6" name="Text 4"/>
          <p:cNvSpPr/>
          <p:nvPr/>
        </p:nvSpPr>
        <p:spPr>
          <a:xfrm>
            <a:off x="1015876" y="2326184"/>
            <a:ext cx="1949248"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7EE"/>
                </a:solidFill>
                <a:latin typeface="Zilla Slab" pitchFamily="18" charset="0"/>
                <a:ea typeface="Zilla Slab" pitchFamily="18" charset="-122"/>
                <a:cs typeface="Zilla Slab" pitchFamily="18" charset="-120"/>
              </a:rPr>
              <a:t>CI gate</a:t>
            </a:r>
            <a:endParaRPr lang="en-US" sz="1600" dirty="0"/>
          </a:p>
        </p:txBody>
      </p:sp>
      <p:sp>
        <p:nvSpPr>
          <p:cNvPr id="7" name="Text 5"/>
          <p:cNvSpPr/>
          <p:nvPr/>
        </p:nvSpPr>
        <p:spPr>
          <a:xfrm>
            <a:off x="1015876" y="2646040"/>
            <a:ext cx="1949248" cy="1572468"/>
          </a:xfrm>
          <a:prstGeom prst="rect">
            <a:avLst/>
          </a:prstGeom>
          <a:noFill/>
          <a:ln/>
        </p:spPr>
        <p:txBody>
          <a:bodyPr wrap="square" lIns="0" tIns="0" rIns="0" bIns="0" rtlCol="0" anchor="t">
            <a:normAutofit/>
          </a:bodyPr>
          <a:lstStyle/>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Build</a:t>
            </a:r>
            <a:endParaRPr lang="en-US" sz="1200" dirty="0"/>
          </a:p>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132 tests, coverage ≥ 70%</a:t>
            </a:r>
            <a:endParaRPr lang="en-US" sz="1200" dirty="0"/>
          </a:p>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Vulnerable package scan</a:t>
            </a:r>
            <a:endParaRPr lang="en-US" sz="1200" dirty="0"/>
          </a:p>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Migration check</a:t>
            </a:r>
            <a:endParaRPr lang="en-US" sz="1200" dirty="0"/>
          </a:p>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Accessibility audit</a:t>
            </a:r>
            <a:endParaRPr lang="en-US" sz="1200" dirty="0"/>
          </a:p>
        </p:txBody>
      </p:sp>
      <p:pic>
        <p:nvPicPr>
          <p:cNvPr id="8" name="Image 0" descr="arrow-right"/>
          <p:cNvPicPr>
            <a:picLocks noChangeAspect="1"/>
          </p:cNvPicPr>
          <p:nvPr/>
        </p:nvPicPr>
        <p:blipFill>
          <a:blip r:embed="rId3"/>
          <a:srcRect/>
          <a:stretch/>
        </p:blipFill>
        <p:spPr>
          <a:xfrm>
            <a:off x="3187650" y="3013273"/>
            <a:ext cx="304726" cy="203150"/>
          </a:xfrm>
          <a:prstGeom prst="rect">
            <a:avLst/>
          </a:prstGeom>
        </p:spPr>
      </p:pic>
      <p:sp>
        <p:nvSpPr>
          <p:cNvPr id="9" name="Shape 6"/>
          <p:cNvSpPr/>
          <p:nvPr/>
        </p:nvSpPr>
        <p:spPr>
          <a:xfrm>
            <a:off x="3568526" y="1833563"/>
            <a:ext cx="2298898" cy="2562696"/>
          </a:xfrm>
          <a:prstGeom prst="roundRect">
            <a:avLst>
              <a:gd name="adj" fmla="val 4420"/>
            </a:avLst>
          </a:prstGeom>
          <a:solidFill>
            <a:srgbClr val="2A4A3A"/>
          </a:solidFill>
          <a:ln/>
        </p:spPr>
        <p:txBody>
          <a:bodyPr/>
          <a:lstStyle/>
          <a:p>
            <a:endParaRPr lang="en-ZA"/>
          </a:p>
        </p:txBody>
      </p:sp>
      <p:sp>
        <p:nvSpPr>
          <p:cNvPr id="10" name="Text 7"/>
          <p:cNvSpPr/>
          <p:nvPr/>
        </p:nvSpPr>
        <p:spPr>
          <a:xfrm>
            <a:off x="3771677" y="2036713"/>
            <a:ext cx="19493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A33D"/>
                </a:solidFill>
                <a:latin typeface="Space Mono" pitchFamily="49" charset="0"/>
                <a:ea typeface="Space Mono" pitchFamily="49" charset="-122"/>
                <a:cs typeface="Space Mono" pitchFamily="49" charset="-120"/>
              </a:rPr>
              <a:t>2 · DEVELOP</a:t>
            </a:r>
            <a:endParaRPr lang="en-US" sz="1200" dirty="0"/>
          </a:p>
        </p:txBody>
      </p:sp>
      <p:sp>
        <p:nvSpPr>
          <p:cNvPr id="11" name="Text 8"/>
          <p:cNvSpPr/>
          <p:nvPr/>
        </p:nvSpPr>
        <p:spPr>
          <a:xfrm>
            <a:off x="3771677" y="2326184"/>
            <a:ext cx="1949376"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7EE"/>
                </a:solidFill>
                <a:latin typeface="Zilla Slab" pitchFamily="18" charset="0"/>
                <a:ea typeface="Zilla Slab" pitchFamily="18" charset="-122"/>
                <a:cs typeface="Zilla Slab" pitchFamily="18" charset="-120"/>
              </a:rPr>
              <a:t>Staging</a:t>
            </a:r>
            <a:endParaRPr lang="en-US" sz="1600" dirty="0"/>
          </a:p>
        </p:txBody>
      </p:sp>
      <p:sp>
        <p:nvSpPr>
          <p:cNvPr id="12" name="Text 9"/>
          <p:cNvSpPr/>
          <p:nvPr/>
        </p:nvSpPr>
        <p:spPr>
          <a:xfrm>
            <a:off x="3771677" y="2646040"/>
            <a:ext cx="1949376" cy="909439"/>
          </a:xfrm>
          <a:prstGeom prst="rect">
            <a:avLst/>
          </a:prstGeom>
          <a:noFill/>
          <a:ln/>
        </p:spPr>
        <p:txBody>
          <a:bodyPr wrap="square" lIns="0" tIns="0" rIns="0" bIns="0" rtlCol="0" anchor="t">
            <a:normAutofit/>
          </a:bodyPr>
          <a:lstStyle/>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Deploy to staging app</a:t>
            </a:r>
            <a:endParaRPr lang="en-US" sz="1200" dirty="0"/>
          </a:p>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Wait for new commit</a:t>
            </a:r>
            <a:endParaRPr lang="en-US" sz="1200" dirty="0"/>
          </a:p>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Smoke test 5 URLs</a:t>
            </a:r>
            <a:endParaRPr lang="en-US" sz="1200" dirty="0"/>
          </a:p>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Demo to the client</a:t>
            </a:r>
            <a:endParaRPr lang="en-US" sz="1200" dirty="0"/>
          </a:p>
        </p:txBody>
      </p:sp>
      <p:pic>
        <p:nvPicPr>
          <p:cNvPr id="13" name="Image 1" descr="arrow-right"/>
          <p:cNvPicPr>
            <a:picLocks noChangeAspect="1"/>
          </p:cNvPicPr>
          <p:nvPr/>
        </p:nvPicPr>
        <p:blipFill>
          <a:blip r:embed="rId3"/>
          <a:srcRect/>
          <a:stretch/>
        </p:blipFill>
        <p:spPr>
          <a:xfrm>
            <a:off x="5943575" y="3013273"/>
            <a:ext cx="304726" cy="203150"/>
          </a:xfrm>
          <a:prstGeom prst="rect">
            <a:avLst/>
          </a:prstGeom>
        </p:spPr>
      </p:pic>
      <p:sp>
        <p:nvSpPr>
          <p:cNvPr id="14" name="Shape 10"/>
          <p:cNvSpPr/>
          <p:nvPr/>
        </p:nvSpPr>
        <p:spPr>
          <a:xfrm>
            <a:off x="6324451" y="1833563"/>
            <a:ext cx="2298898" cy="2562696"/>
          </a:xfrm>
          <a:prstGeom prst="roundRect">
            <a:avLst>
              <a:gd name="adj" fmla="val 4420"/>
            </a:avLst>
          </a:prstGeom>
          <a:solidFill>
            <a:srgbClr val="2A4A3A"/>
          </a:solidFill>
          <a:ln/>
        </p:spPr>
        <p:txBody>
          <a:bodyPr/>
          <a:lstStyle/>
          <a:p>
            <a:endParaRPr lang="en-ZA"/>
          </a:p>
        </p:txBody>
      </p:sp>
      <p:sp>
        <p:nvSpPr>
          <p:cNvPr id="15" name="Text 11"/>
          <p:cNvSpPr/>
          <p:nvPr/>
        </p:nvSpPr>
        <p:spPr>
          <a:xfrm>
            <a:off x="6527602" y="2036713"/>
            <a:ext cx="19493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A33D"/>
                </a:solidFill>
                <a:latin typeface="Space Mono" pitchFamily="49" charset="0"/>
                <a:ea typeface="Space Mono" pitchFamily="49" charset="-122"/>
                <a:cs typeface="Space Mono" pitchFamily="49" charset="-120"/>
              </a:rPr>
              <a:t>3 · MAIN</a:t>
            </a:r>
            <a:endParaRPr lang="en-US" sz="1200" dirty="0"/>
          </a:p>
        </p:txBody>
      </p:sp>
      <p:sp>
        <p:nvSpPr>
          <p:cNvPr id="16" name="Text 12"/>
          <p:cNvSpPr/>
          <p:nvPr/>
        </p:nvSpPr>
        <p:spPr>
          <a:xfrm>
            <a:off x="6527602" y="2326184"/>
            <a:ext cx="1949376"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7EE"/>
                </a:solidFill>
                <a:latin typeface="Zilla Slab" pitchFamily="18" charset="0"/>
                <a:ea typeface="Zilla Slab" pitchFamily="18" charset="-122"/>
                <a:cs typeface="Zilla Slab" pitchFamily="18" charset="-120"/>
              </a:rPr>
              <a:t>Approval</a:t>
            </a:r>
            <a:endParaRPr lang="en-US" sz="1600" dirty="0"/>
          </a:p>
        </p:txBody>
      </p:sp>
      <p:sp>
        <p:nvSpPr>
          <p:cNvPr id="17" name="Text 13"/>
          <p:cNvSpPr/>
          <p:nvPr/>
        </p:nvSpPr>
        <p:spPr>
          <a:xfrm>
            <a:off x="6527602" y="2646040"/>
            <a:ext cx="1949376" cy="467420"/>
          </a:xfrm>
          <a:prstGeom prst="rect">
            <a:avLst/>
          </a:prstGeom>
          <a:noFill/>
          <a:ln/>
        </p:spPr>
        <p:txBody>
          <a:bodyPr wrap="square" lIns="0" tIns="0" rIns="0" bIns="0" rtlCol="0" anchor="t">
            <a:normAutofit/>
          </a:bodyPr>
          <a:lstStyle/>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Required reviewer</a:t>
            </a:r>
            <a:endParaRPr lang="en-US" sz="1200" dirty="0"/>
          </a:p>
          <a:p>
            <a:pPr marL="182880" indent="-142494" algn="l">
              <a:lnSpc>
                <a:spcPts val="1740"/>
              </a:lnSpc>
              <a:buSzPct val="100000"/>
              <a:buChar char="•"/>
            </a:pPr>
            <a:r>
              <a:rPr lang="en-US" sz="1200" dirty="0">
                <a:solidFill>
                  <a:srgbClr val="EFE4C8"/>
                </a:solidFill>
                <a:latin typeface="Karla" pitchFamily="34" charset="0"/>
                <a:ea typeface="Karla" pitchFamily="34" charset="-122"/>
                <a:cs typeface="Karla" pitchFamily="34" charset="-120"/>
              </a:rPr>
              <a:t>Deploy to production</a:t>
            </a:r>
            <a:endParaRPr lang="en-US" sz="1200" dirty="0"/>
          </a:p>
        </p:txBody>
      </p:sp>
      <p:pic>
        <p:nvPicPr>
          <p:cNvPr id="18" name="Image 2" descr="arrow-right"/>
          <p:cNvPicPr>
            <a:picLocks noChangeAspect="1"/>
          </p:cNvPicPr>
          <p:nvPr/>
        </p:nvPicPr>
        <p:blipFill>
          <a:blip r:embed="rId3"/>
          <a:srcRect/>
          <a:stretch/>
        </p:blipFill>
        <p:spPr>
          <a:xfrm>
            <a:off x="8699500" y="3013273"/>
            <a:ext cx="304726" cy="203150"/>
          </a:xfrm>
          <a:prstGeom prst="rect">
            <a:avLst/>
          </a:prstGeom>
        </p:spPr>
      </p:pic>
      <p:sp>
        <p:nvSpPr>
          <p:cNvPr id="19" name="Shape 14"/>
          <p:cNvSpPr/>
          <p:nvPr/>
        </p:nvSpPr>
        <p:spPr>
          <a:xfrm>
            <a:off x="9080376" y="1833563"/>
            <a:ext cx="2298898" cy="2562696"/>
          </a:xfrm>
          <a:prstGeom prst="roundRect">
            <a:avLst>
              <a:gd name="adj" fmla="val 4420"/>
            </a:avLst>
          </a:prstGeom>
          <a:solidFill>
            <a:srgbClr val="E8A33D"/>
          </a:solidFill>
          <a:ln/>
        </p:spPr>
        <p:txBody>
          <a:bodyPr/>
          <a:lstStyle/>
          <a:p>
            <a:endParaRPr lang="en-ZA"/>
          </a:p>
        </p:txBody>
      </p:sp>
      <p:sp>
        <p:nvSpPr>
          <p:cNvPr id="20" name="Text 15"/>
          <p:cNvSpPr/>
          <p:nvPr/>
        </p:nvSpPr>
        <p:spPr>
          <a:xfrm>
            <a:off x="9283526" y="2036713"/>
            <a:ext cx="19493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53025"/>
                </a:solidFill>
                <a:latin typeface="Space Mono" pitchFamily="49" charset="0"/>
                <a:ea typeface="Space Mono" pitchFamily="49" charset="-122"/>
                <a:cs typeface="Space Mono" pitchFamily="49" charset="-120"/>
              </a:rPr>
              <a:t>4 · VERIFY</a:t>
            </a:r>
            <a:endParaRPr lang="en-US" sz="1200" dirty="0"/>
          </a:p>
        </p:txBody>
      </p:sp>
      <p:sp>
        <p:nvSpPr>
          <p:cNvPr id="21" name="Text 16"/>
          <p:cNvSpPr/>
          <p:nvPr/>
        </p:nvSpPr>
        <p:spPr>
          <a:xfrm>
            <a:off x="9283526" y="2326184"/>
            <a:ext cx="1949376"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3025"/>
                </a:solidFill>
                <a:latin typeface="Zilla Slab" pitchFamily="18" charset="0"/>
                <a:ea typeface="Zilla Slab" pitchFamily="18" charset="-122"/>
                <a:cs typeface="Zilla Slab" pitchFamily="18" charset="-120"/>
              </a:rPr>
              <a:t>Checked live</a:t>
            </a:r>
            <a:endParaRPr lang="en-US" sz="1600" dirty="0"/>
          </a:p>
        </p:txBody>
      </p:sp>
      <p:sp>
        <p:nvSpPr>
          <p:cNvPr id="22" name="Text 17"/>
          <p:cNvSpPr/>
          <p:nvPr/>
        </p:nvSpPr>
        <p:spPr>
          <a:xfrm>
            <a:off x="9283526" y="2646040"/>
            <a:ext cx="1949376" cy="909439"/>
          </a:xfrm>
          <a:prstGeom prst="rect">
            <a:avLst/>
          </a:prstGeom>
          <a:noFill/>
          <a:ln/>
        </p:spPr>
        <p:txBody>
          <a:bodyPr wrap="square" lIns="0" tIns="0" rIns="0" bIns="0" rtlCol="0" anchor="t">
            <a:normAutofit/>
          </a:bodyPr>
          <a:lstStyle/>
          <a:p>
            <a:pPr marL="182880" indent="-142494" algn="l">
              <a:lnSpc>
                <a:spcPts val="1740"/>
              </a:lnSpc>
              <a:buSzPct val="100000"/>
              <a:buChar char="•"/>
            </a:pPr>
            <a:r>
              <a:rPr lang="en-US" sz="1200" dirty="0">
                <a:solidFill>
                  <a:srgbClr val="153025"/>
                </a:solidFill>
                <a:latin typeface="Karla" pitchFamily="34" charset="0"/>
                <a:ea typeface="Karla" pitchFamily="34" charset="-122"/>
                <a:cs typeface="Karla" pitchFamily="34" charset="-120"/>
              </a:rPr>
              <a:t>Exact commit on /version</a:t>
            </a:r>
            <a:endParaRPr lang="en-US" sz="1200" dirty="0"/>
          </a:p>
          <a:p>
            <a:pPr marL="182880" indent="-142494" algn="l">
              <a:lnSpc>
                <a:spcPts val="1740"/>
              </a:lnSpc>
              <a:buSzPct val="100000"/>
              <a:buChar char="•"/>
            </a:pPr>
            <a:r>
              <a:rPr lang="en-US" sz="1200" dirty="0">
                <a:solidFill>
                  <a:srgbClr val="153025"/>
                </a:solidFill>
                <a:latin typeface="Karla" pitchFamily="34" charset="0"/>
                <a:ea typeface="Karla" pitchFamily="34" charset="-122"/>
                <a:cs typeface="Karla" pitchFamily="34" charset="-120"/>
              </a:rPr>
              <a:t>Health check</a:t>
            </a:r>
            <a:endParaRPr lang="en-US" sz="1200" dirty="0"/>
          </a:p>
          <a:p>
            <a:pPr marL="182880" indent="-142494" algn="l">
              <a:lnSpc>
                <a:spcPts val="1740"/>
              </a:lnSpc>
              <a:buSzPct val="100000"/>
              <a:buChar char="•"/>
            </a:pPr>
            <a:r>
              <a:rPr lang="en-US" sz="1200" dirty="0">
                <a:solidFill>
                  <a:srgbClr val="153025"/>
                </a:solidFill>
                <a:latin typeface="Karla" pitchFamily="34" charset="0"/>
                <a:ea typeface="Karla" pitchFamily="34" charset="-122"/>
                <a:cs typeface="Karla" pitchFamily="34" charset="-120"/>
              </a:rPr>
              <a:t>S1: swap, auto rollback</a:t>
            </a:r>
            <a:endParaRPr lang="en-US" sz="1200" dirty="0"/>
          </a:p>
        </p:txBody>
      </p:sp>
      <p:sp>
        <p:nvSpPr>
          <p:cNvPr id="23" name="Text 18"/>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A33D"/>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153025"/>
                </a:solidFill>
                <a:latin typeface="Space Mono" pitchFamily="49" charset="0"/>
                <a:ea typeface="Space Mono" pitchFamily="49" charset="-122"/>
                <a:cs typeface="Space Mono" pitchFamily="49" charset="-120"/>
              </a:rPr>
              <a:t>QUALITY EVIDENCE</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3025"/>
                </a:solidFill>
                <a:latin typeface="Zilla Slab" pitchFamily="18" charset="0"/>
                <a:ea typeface="Zilla Slab" pitchFamily="18" charset="-122"/>
                <a:cs typeface="Zilla Slab" pitchFamily="18" charset="-120"/>
              </a:rPr>
              <a:t>Proven by automation, not promises</a:t>
            </a:r>
            <a:endParaRPr lang="en-US" sz="3600" dirty="0"/>
          </a:p>
        </p:txBody>
      </p:sp>
      <p:sp>
        <p:nvSpPr>
          <p:cNvPr id="4" name="Text 2"/>
          <p:cNvSpPr/>
          <p:nvPr/>
        </p:nvSpPr>
        <p:spPr>
          <a:xfrm>
            <a:off x="812726" y="1935138"/>
            <a:ext cx="256395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53025"/>
                </a:solidFill>
                <a:latin typeface="Zilla Slab" pitchFamily="18" charset="0"/>
                <a:ea typeface="Zilla Slab" pitchFamily="18" charset="-122"/>
                <a:cs typeface="Zilla Slab" pitchFamily="18" charset="-120"/>
              </a:rPr>
              <a:t>132</a:t>
            </a:r>
            <a:endParaRPr lang="en-US" sz="6000" dirty="0"/>
          </a:p>
        </p:txBody>
      </p:sp>
      <p:sp>
        <p:nvSpPr>
          <p:cNvPr id="5" name="Text 3"/>
          <p:cNvSpPr/>
          <p:nvPr/>
        </p:nvSpPr>
        <p:spPr>
          <a:xfrm>
            <a:off x="812726" y="2773288"/>
            <a:ext cx="2563953" cy="55349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53025"/>
                </a:solidFill>
                <a:latin typeface="Karla" pitchFamily="34" charset="0"/>
                <a:ea typeface="Karla" pitchFamily="34" charset="-122"/>
                <a:cs typeface="Karla" pitchFamily="34" charset="-120"/>
              </a:rPr>
              <a:t>automated tests, incl. real PostgreSQL</a:t>
            </a:r>
            <a:endParaRPr lang="en-US" sz="1600" dirty="0"/>
          </a:p>
        </p:txBody>
      </p:sp>
      <p:sp>
        <p:nvSpPr>
          <p:cNvPr id="6" name="Text 4"/>
          <p:cNvSpPr/>
          <p:nvPr/>
        </p:nvSpPr>
        <p:spPr>
          <a:xfrm>
            <a:off x="3505150" y="1935138"/>
            <a:ext cx="256395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53025"/>
                </a:solidFill>
                <a:latin typeface="Zilla Slab" pitchFamily="18" charset="0"/>
                <a:ea typeface="Zilla Slab" pitchFamily="18" charset="-122"/>
                <a:cs typeface="Zilla Slab" pitchFamily="18" charset="-120"/>
              </a:rPr>
              <a:t>0</a:t>
            </a:r>
            <a:endParaRPr lang="en-US" sz="6000" dirty="0"/>
          </a:p>
        </p:txBody>
      </p:sp>
      <p:sp>
        <p:nvSpPr>
          <p:cNvPr id="7" name="Text 5"/>
          <p:cNvSpPr/>
          <p:nvPr/>
        </p:nvSpPr>
        <p:spPr>
          <a:xfrm>
            <a:off x="3505150" y="2773288"/>
            <a:ext cx="2563953" cy="55349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53025"/>
                </a:solidFill>
                <a:latin typeface="Karla" pitchFamily="34" charset="0"/>
                <a:ea typeface="Karla" pitchFamily="34" charset="-122"/>
                <a:cs typeface="Karla" pitchFamily="34" charset="-120"/>
              </a:rPr>
              <a:t>WCAG 2.1 AA violations on 46 page checks</a:t>
            </a:r>
            <a:endParaRPr lang="en-US" sz="1600" dirty="0"/>
          </a:p>
        </p:txBody>
      </p:sp>
      <p:sp>
        <p:nvSpPr>
          <p:cNvPr id="8" name="Text 6"/>
          <p:cNvSpPr/>
          <p:nvPr/>
        </p:nvSpPr>
        <p:spPr>
          <a:xfrm>
            <a:off x="6197575" y="1935138"/>
            <a:ext cx="256395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53025"/>
                </a:solidFill>
                <a:latin typeface="Zilla Slab" pitchFamily="18" charset="0"/>
                <a:ea typeface="Zilla Slab" pitchFamily="18" charset="-122"/>
                <a:cs typeface="Zilla Slab" pitchFamily="18" charset="-120"/>
              </a:rPr>
              <a:t>109</a:t>
            </a:r>
            <a:endParaRPr lang="en-US" sz="6000" dirty="0"/>
          </a:p>
        </p:txBody>
      </p:sp>
      <p:sp>
        <p:nvSpPr>
          <p:cNvPr id="9" name="Text 7"/>
          <p:cNvSpPr/>
          <p:nvPr/>
        </p:nvSpPr>
        <p:spPr>
          <a:xfrm>
            <a:off x="6197575" y="2773288"/>
            <a:ext cx="2563953" cy="55349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53025"/>
                </a:solidFill>
                <a:latin typeface="Karla" pitchFamily="34" charset="0"/>
                <a:ea typeface="Karla" pitchFamily="34" charset="-122"/>
                <a:cs typeface="Karla" pitchFamily="34" charset="-120"/>
              </a:rPr>
              <a:t>ms worst p95; the target is 500 ms</a:t>
            </a:r>
            <a:endParaRPr lang="en-US" sz="1600" dirty="0"/>
          </a:p>
        </p:txBody>
      </p:sp>
      <p:sp>
        <p:nvSpPr>
          <p:cNvPr id="10" name="Text 8"/>
          <p:cNvSpPr/>
          <p:nvPr/>
        </p:nvSpPr>
        <p:spPr>
          <a:xfrm>
            <a:off x="8890000" y="1935138"/>
            <a:ext cx="256395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53025"/>
                </a:solidFill>
                <a:latin typeface="Zilla Slab" pitchFamily="18" charset="0"/>
                <a:ea typeface="Zilla Slab" pitchFamily="18" charset="-122"/>
                <a:cs typeface="Zilla Slab" pitchFamily="18" charset="-120"/>
              </a:rPr>
              <a:t>0</a:t>
            </a:r>
            <a:endParaRPr lang="en-US" sz="6000" dirty="0"/>
          </a:p>
        </p:txBody>
      </p:sp>
      <p:sp>
        <p:nvSpPr>
          <p:cNvPr id="11" name="Text 9"/>
          <p:cNvSpPr/>
          <p:nvPr/>
        </p:nvSpPr>
        <p:spPr>
          <a:xfrm>
            <a:off x="8890000" y="2773288"/>
            <a:ext cx="2563953" cy="55349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53025"/>
                </a:solidFill>
                <a:latin typeface="Karla" pitchFamily="34" charset="0"/>
                <a:ea typeface="Karla" pitchFamily="34" charset="-122"/>
                <a:cs typeface="Karla" pitchFamily="34" charset="-120"/>
              </a:rPr>
              <a:t>known-vulnerable packages allowed by CI</a:t>
            </a:r>
            <a:endParaRPr lang="en-US" sz="1600" dirty="0"/>
          </a:p>
        </p:txBody>
      </p:sp>
      <p:sp>
        <p:nvSpPr>
          <p:cNvPr id="12" name="Text 10"/>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53025"/>
                </a:solidFill>
                <a:latin typeface="Karla" pitchFamily="34" charset="0"/>
                <a:ea typeface="Karla" pitchFamily="34" charset="-122"/>
                <a:cs typeface="Karla" pitchFamily="34" charset="-120"/>
              </a:rPr>
              <a:t>PawConnect · Task 2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REQUIREMENTS ALIGNMENT</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Every Part 1 requirement, traced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747224188"/>
              </p:ext>
            </p:extLst>
          </p:nvPr>
        </p:nvGraphicFramePr>
        <p:xfrm>
          <a:off x="820663" y="1841500"/>
          <a:ext cx="10558363" cy="2819550"/>
        </p:xfrm>
        <a:graphic>
          <a:graphicData uri="http://schemas.openxmlformats.org/drawingml/2006/table">
            <a:tbl>
              <a:tblPr/>
              <a:tblGrid>
                <a:gridCol w="4645680">
                  <a:extLst>
                    <a:ext uri="{9D8B030D-6E8A-4147-A177-3AD203B41FA5}">
                      <a16:colId xmlns:a16="http://schemas.microsoft.com/office/drawing/2014/main" val="20000"/>
                    </a:ext>
                  </a:extLst>
                </a:gridCol>
                <a:gridCol w="1900505">
                  <a:extLst>
                    <a:ext uri="{9D8B030D-6E8A-4147-A177-3AD203B41FA5}">
                      <a16:colId xmlns:a16="http://schemas.microsoft.com/office/drawing/2014/main" val="20001"/>
                    </a:ext>
                  </a:extLst>
                </a:gridCol>
                <a:gridCol w="4012178">
                  <a:extLst>
                    <a:ext uri="{9D8B030D-6E8A-4147-A177-3AD203B41FA5}">
                      <a16:colId xmlns:a16="http://schemas.microsoft.com/office/drawing/2014/main" val="20002"/>
                    </a:ext>
                  </a:extLst>
                </a:gridCol>
              </a:tblGrid>
              <a:tr h="469925">
                <a:tc>
                  <a:txBody>
                    <a:bodyPr/>
                    <a:lstStyle/>
                    <a:p>
                      <a:pPr marL="0" indent="0">
                        <a:lnSpc>
                          <a:spcPts val="2240"/>
                        </a:lnSpc>
                        <a:buNone/>
                      </a:pPr>
                      <a:r>
                        <a:rPr lang="en-US" sz="1600" b="1" dirty="0">
                          <a:solidFill>
                            <a:srgbClr val="FAF7EE"/>
                          </a:solidFill>
                          <a:latin typeface="Karla" pitchFamily="34" charset="0"/>
                          <a:ea typeface="Karla" pitchFamily="34" charset="-122"/>
                          <a:cs typeface="Karla" pitchFamily="34" charset="-120"/>
                        </a:rPr>
                        <a:t>From the design document</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2240"/>
                        </a:lnSpc>
                        <a:buNone/>
                      </a:pPr>
                      <a:r>
                        <a:rPr lang="en-US" sz="1600" b="1" dirty="0">
                          <a:solidFill>
                            <a:srgbClr val="FAF7EE"/>
                          </a:solidFill>
                          <a:latin typeface="Karla" pitchFamily="34" charset="0"/>
                          <a:ea typeface="Karla" pitchFamily="34" charset="-122"/>
                          <a:cs typeface="Karla" pitchFamily="34" charset="-120"/>
                        </a:rPr>
                        <a:t>Delivered</a:t>
                      </a:r>
                      <a:endParaRPr lang="en-US" sz="1600" dirty="0">
                        <a:latin typeface="Karla" charset="0"/>
                        <a:ea typeface="Karla" charset="0"/>
                        <a:cs typeface="Karla" charset="0"/>
                      </a:endParaRPr>
                    </a:p>
                  </a:txBody>
                  <a:tcPr marL="152400" marR="152400" marT="88900" marB="8890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2240"/>
                        </a:lnSpc>
                        <a:buNone/>
                      </a:pPr>
                      <a:r>
                        <a:rPr lang="en-US" sz="1600" b="1" dirty="0">
                          <a:solidFill>
                            <a:srgbClr val="FAF7EE"/>
                          </a:solidFill>
                          <a:latin typeface="Karla" pitchFamily="34" charset="0"/>
                          <a:ea typeface="Karla" pitchFamily="34" charset="-122"/>
                          <a:cs typeface="Karla" pitchFamily="34" charset="-120"/>
                        </a:rPr>
                        <a:t>Evidence</a:t>
                      </a:r>
                      <a:endParaRPr lang="en-US" sz="1600" dirty="0">
                        <a:latin typeface="Karla" charset="0"/>
                        <a:ea typeface="Karla" charset="0"/>
                        <a:cs typeface="Karla" charset="0"/>
                      </a:endParaRPr>
                    </a:p>
                  </a:txBody>
                  <a:tcPr marL="152400" marR="152400" marT="88900" marB="8890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469925">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Adopter user stories</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5 of 5</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Service  </a:t>
                      </a:r>
                      <a:r>
                        <a:rPr lang="en-US" sz="1600" dirty="0" err="1">
                          <a:solidFill>
                            <a:srgbClr val="262420"/>
                          </a:solidFill>
                          <a:latin typeface="Karla" pitchFamily="34" charset="0"/>
                          <a:ea typeface="Karla" pitchFamily="34" charset="-122"/>
                          <a:cs typeface="Karla" pitchFamily="34" charset="-120"/>
                        </a:rPr>
                        <a:t>andAPI</a:t>
                      </a:r>
                      <a:r>
                        <a:rPr lang="en-US" sz="1600" dirty="0">
                          <a:solidFill>
                            <a:srgbClr val="262420"/>
                          </a:solidFill>
                          <a:latin typeface="Karla" pitchFamily="34" charset="0"/>
                          <a:ea typeface="Karla" pitchFamily="34" charset="-122"/>
                          <a:cs typeface="Karla" pitchFamily="34" charset="-120"/>
                        </a:rPr>
                        <a:t> tests</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1"/>
                  </a:ext>
                </a:extLst>
              </a:tr>
              <a:tr h="469925">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Volunteer user stories</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5 of 5</a:t>
                      </a:r>
                      <a:endParaRPr lang="en-US" sz="1600" dirty="0">
                        <a:latin typeface="Karla" charset="0"/>
                        <a:ea typeface="Karla" charset="0"/>
                        <a:cs typeface="Karla" charset="0"/>
                      </a:endParaRPr>
                    </a:p>
                  </a:txBody>
                  <a:tcPr marL="152400" marR="152400" marT="88900" marB="889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Service and API tests</a:t>
                      </a:r>
                      <a:endParaRPr lang="en-US" sz="1600" dirty="0">
                        <a:latin typeface="Karla" charset="0"/>
                        <a:ea typeface="Karla" charset="0"/>
                        <a:cs typeface="Karla" charset="0"/>
                      </a:endParaRPr>
                    </a:p>
                  </a:txBody>
                  <a:tcPr marL="152400" marR="152400" marT="88900" marB="889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extLst>
                  <a:ext uri="{0D108BD9-81ED-4DB2-BD59-A6C34878D82A}">
                    <a16:rowId xmlns:a16="http://schemas.microsoft.com/office/drawing/2014/main" val="10002"/>
                  </a:ext>
                </a:extLst>
              </a:tr>
              <a:tr h="469925">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Administrator user stories</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5 of 5</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Service and account tests</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3"/>
                  </a:ext>
                </a:extLst>
              </a:tr>
              <a:tr h="469925">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Acceptance criteria</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4 of 4</a:t>
                      </a:r>
                      <a:endParaRPr lang="en-US" sz="1600" dirty="0">
                        <a:latin typeface="Karla" charset="0"/>
                        <a:ea typeface="Karla" charset="0"/>
                        <a:cs typeface="Karla" charset="0"/>
                      </a:endParaRPr>
                    </a:p>
                  </a:txBody>
                  <a:tcPr marL="152400" marR="152400" marT="88900" marB="889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Workflow tests</a:t>
                      </a:r>
                      <a:endParaRPr lang="en-US" sz="1600" dirty="0">
                        <a:latin typeface="Karla" charset="0"/>
                        <a:ea typeface="Karla" charset="0"/>
                        <a:cs typeface="Karla" charset="0"/>
                      </a:endParaRPr>
                    </a:p>
                  </a:txBody>
                  <a:tcPr marL="152400" marR="152400" marT="88900" marB="88900">
                    <a:lnL w="12700" cap="flat" cmpd="sng" algn="ctr">
                      <a:solidFill>
                        <a:srgbClr val="C2BDB0"/>
                      </a:solidFill>
                      <a:prstDash val="solid"/>
                      <a:round/>
                      <a:headEnd type="none" w="med" len="med"/>
                      <a:tailEnd type="none" w="med" len="med"/>
                    </a:lnL>
                    <a:lnR w="12700" cap="flat" cmpd="sng" algn="ctr">
                      <a:solidFill>
                        <a:srgbClr val="C2BDB0"/>
                      </a:solidFill>
                      <a:prstDash val="solid"/>
                      <a:round/>
                      <a:headEnd type="none" w="med" len="med"/>
                      <a:tailEnd type="none" w="med" len="med"/>
                    </a:lnR>
                    <a:lnT w="12700" cap="flat" cmpd="sng" algn="ctr">
                      <a:solidFill>
                        <a:srgbClr val="C7C5BE"/>
                      </a:solidFill>
                      <a:prstDash val="solid"/>
                      <a:round/>
                      <a:headEnd type="none" w="med" len="med"/>
                      <a:tailEnd type="none" w="med" len="med"/>
                    </a:lnT>
                    <a:lnB w="12700" cap="flat" cmpd="sng" algn="ctr">
                      <a:solidFill>
                        <a:srgbClr val="C2BDB0"/>
                      </a:solidFill>
                      <a:prstDash val="solid"/>
                      <a:round/>
                      <a:headEnd type="none" w="med" len="med"/>
                      <a:tailEnd type="none" w="med" len="med"/>
                    </a:lnB>
                    <a:solidFill>
                      <a:srgbClr val="F3EDDC"/>
                    </a:solidFill>
                  </a:tcPr>
                </a:tc>
                <a:extLst>
                  <a:ext uri="{0D108BD9-81ED-4DB2-BD59-A6C34878D82A}">
                    <a16:rowId xmlns:a16="http://schemas.microsoft.com/office/drawing/2014/main" val="10004"/>
                  </a:ext>
                </a:extLst>
              </a:tr>
              <a:tr h="469925">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Non-functional requirements</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11 of 11</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tc>
                  <a:txBody>
                    <a:bodyPr/>
                    <a:lstStyle/>
                    <a:p>
                      <a:pPr marL="0" indent="0">
                        <a:lnSpc>
                          <a:spcPts val="2240"/>
                        </a:lnSpc>
                        <a:buNone/>
                      </a:pPr>
                      <a:r>
                        <a:rPr lang="en-US" sz="1600" dirty="0">
                          <a:solidFill>
                            <a:srgbClr val="262420"/>
                          </a:solidFill>
                          <a:latin typeface="Karla" pitchFamily="34" charset="0"/>
                          <a:ea typeface="Karla" pitchFamily="34" charset="-122"/>
                          <a:cs typeface="Karla" pitchFamily="34" charset="-120"/>
                        </a:rPr>
                        <a:t>Tests, </a:t>
                      </a:r>
                      <a:r>
                        <a:rPr lang="en-US" sz="1600" dirty="0" err="1">
                          <a:solidFill>
                            <a:srgbClr val="262420"/>
                          </a:solidFill>
                          <a:latin typeface="Karla" pitchFamily="34" charset="0"/>
                          <a:ea typeface="Karla" pitchFamily="34" charset="-122"/>
                          <a:cs typeface="Karla" pitchFamily="34" charset="-120"/>
                        </a:rPr>
                        <a:t>auditand</a:t>
                      </a:r>
                      <a:r>
                        <a:rPr lang="en-US" sz="1600" dirty="0">
                          <a:solidFill>
                            <a:srgbClr val="262420"/>
                          </a:solidFill>
                          <a:latin typeface="Karla" pitchFamily="34" charset="0"/>
                          <a:ea typeface="Karla" pitchFamily="34" charset="-122"/>
                          <a:cs typeface="Karla" pitchFamily="34" charset="-120"/>
                        </a:rPr>
                        <a:t> load test</a:t>
                      </a:r>
                      <a:endParaRPr lang="en-US" sz="1600" dirty="0">
                        <a:latin typeface="Karla" charset="0"/>
                        <a:ea typeface="Karla" charset="0"/>
                        <a:cs typeface="Karla" charset="0"/>
                      </a:endParaRPr>
                    </a:p>
                  </a:txBody>
                  <a:tcPr marL="152400" marR="152400" marT="88900" marB="88900">
                    <a:lnL w="12700" cap="flat" cmpd="sng" algn="ctr">
                      <a:solidFill>
                        <a:srgbClr val="C7C5BE"/>
                      </a:solidFill>
                      <a:prstDash val="solid"/>
                      <a:round/>
                      <a:headEnd type="none" w="med" len="med"/>
                      <a:tailEnd type="none" w="med" len="med"/>
                    </a:lnL>
                    <a:lnR w="12700" cap="flat" cmpd="sng" algn="ctr">
                      <a:solidFill>
                        <a:srgbClr val="C7C5BE"/>
                      </a:solidFill>
                      <a:prstDash val="solid"/>
                      <a:round/>
                      <a:headEnd type="none" w="med" len="med"/>
                      <a:tailEnd type="none" w="med" len="med"/>
                    </a:lnR>
                    <a:lnT w="12700" cap="flat" cmpd="sng" algn="ctr">
                      <a:solidFill>
                        <a:srgbClr val="C2BDB0"/>
                      </a:solidFill>
                      <a:prstDash val="solid"/>
                      <a:round/>
                      <a:headEnd type="none" w="med" len="med"/>
                      <a:tailEnd type="none" w="med" len="med"/>
                    </a:lnT>
                    <a:lnB w="12700" cap="flat" cmpd="sng" algn="ctr">
                      <a:solidFill>
                        <a:srgbClr val="C7C5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726" y="4915049"/>
            <a:ext cx="10883545"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B5648"/>
                </a:solidFill>
                <a:latin typeface="Karla" pitchFamily="34" charset="0"/>
                <a:ea typeface="Karla" pitchFamily="34" charset="-122"/>
                <a:cs typeface="Karla" pitchFamily="34" charset="-120"/>
              </a:rPr>
              <a:t>Full matrix: docs/REQUIREMENTS-TRACEABILITY.md in the repository</a:t>
            </a:r>
            <a:endParaRPr lang="en-US" sz="1600" dirty="0"/>
          </a:p>
        </p:txBody>
      </p:sp>
      <p:sp>
        <p:nvSpPr>
          <p:cNvPr id="6" name="Text 3"/>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DECISIONS AND CHALLENGES</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What changed, and why</a:t>
            </a:r>
            <a:endParaRPr lang="en-US" sz="3600" dirty="0"/>
          </a:p>
        </p:txBody>
      </p:sp>
      <p:sp>
        <p:nvSpPr>
          <p:cNvPr id="4" name="Shape 2"/>
          <p:cNvSpPr/>
          <p:nvPr/>
        </p:nvSpPr>
        <p:spPr>
          <a:xfrm>
            <a:off x="815901" y="1836737"/>
            <a:ext cx="5175349" cy="1213172"/>
          </a:xfrm>
          <a:prstGeom prst="roundRect">
            <a:avLst>
              <a:gd name="adj" fmla="val 8113"/>
            </a:avLst>
          </a:prstGeom>
          <a:solidFill>
            <a:srgbClr val="FFFDF7"/>
          </a:solidFill>
          <a:ln w="6350">
            <a:solidFill>
              <a:srgbClr val="E3DCC6"/>
            </a:solidFill>
            <a:prstDash val="solid"/>
          </a:ln>
        </p:spPr>
        <p:txBody>
          <a:bodyPr/>
          <a:lstStyle/>
          <a:p>
            <a:endParaRPr lang="en-ZA"/>
          </a:p>
        </p:txBody>
      </p:sp>
      <p:sp>
        <p:nvSpPr>
          <p:cNvPr id="5" name="Text 3"/>
          <p:cNvSpPr/>
          <p:nvPr/>
        </p:nvSpPr>
        <p:spPr>
          <a:xfrm>
            <a:off x="1074663" y="2070075"/>
            <a:ext cx="47975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ASP.NET Core, not React + Express</a:t>
            </a:r>
            <a:endParaRPr lang="en-US" sz="1600" dirty="0"/>
          </a:p>
        </p:txBody>
      </p:sp>
      <p:sp>
        <p:nvSpPr>
          <p:cNvPr id="6" name="Text 4"/>
          <p:cNvSpPr/>
          <p:nvPr/>
        </p:nvSpPr>
        <p:spPr>
          <a:xfrm>
            <a:off x="1074663" y="2389932"/>
            <a:ext cx="47975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Built on our Part 1 prototype, one language end to end and one deployable app.</a:t>
            </a:r>
            <a:endParaRPr lang="en-US" sz="1200" dirty="0"/>
          </a:p>
        </p:txBody>
      </p:sp>
      <p:sp>
        <p:nvSpPr>
          <p:cNvPr id="7" name="Shape 5"/>
          <p:cNvSpPr/>
          <p:nvPr/>
        </p:nvSpPr>
        <p:spPr>
          <a:xfrm>
            <a:off x="6200750" y="1836737"/>
            <a:ext cx="5175349" cy="1213172"/>
          </a:xfrm>
          <a:prstGeom prst="roundRect">
            <a:avLst>
              <a:gd name="adj" fmla="val 8113"/>
            </a:avLst>
          </a:prstGeom>
          <a:solidFill>
            <a:srgbClr val="FFFDF7"/>
          </a:solidFill>
          <a:ln w="6350">
            <a:solidFill>
              <a:srgbClr val="E3DCC6"/>
            </a:solidFill>
            <a:prstDash val="solid"/>
          </a:ln>
        </p:spPr>
        <p:txBody>
          <a:bodyPr/>
          <a:lstStyle/>
          <a:p>
            <a:endParaRPr lang="en-ZA"/>
          </a:p>
        </p:txBody>
      </p:sp>
      <p:sp>
        <p:nvSpPr>
          <p:cNvPr id="8" name="Text 6"/>
          <p:cNvSpPr/>
          <p:nvPr/>
        </p:nvSpPr>
        <p:spPr>
          <a:xfrm>
            <a:off x="6459513" y="2070075"/>
            <a:ext cx="47975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ASP.NET Identity, not Azure AD B2C</a:t>
            </a:r>
            <a:endParaRPr lang="en-US" sz="1600" dirty="0"/>
          </a:p>
        </p:txBody>
      </p:sp>
      <p:sp>
        <p:nvSpPr>
          <p:cNvPr id="9" name="Text 7"/>
          <p:cNvSpPr/>
          <p:nvPr/>
        </p:nvSpPr>
        <p:spPr>
          <a:xfrm>
            <a:off x="6459513" y="2389932"/>
            <a:ext cx="47975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B2C closed to new customers; Identity is free and gives lockout and roles.</a:t>
            </a:r>
            <a:endParaRPr lang="en-US" sz="1200" dirty="0"/>
          </a:p>
        </p:txBody>
      </p:sp>
      <p:sp>
        <p:nvSpPr>
          <p:cNvPr id="10" name="Shape 8"/>
          <p:cNvSpPr/>
          <p:nvPr/>
        </p:nvSpPr>
        <p:spPr>
          <a:xfrm>
            <a:off x="815901" y="3259410"/>
            <a:ext cx="5175349" cy="1213172"/>
          </a:xfrm>
          <a:prstGeom prst="roundRect">
            <a:avLst>
              <a:gd name="adj" fmla="val 8113"/>
            </a:avLst>
          </a:prstGeom>
          <a:solidFill>
            <a:srgbClr val="FFFDF7"/>
          </a:solidFill>
          <a:ln w="6350">
            <a:solidFill>
              <a:srgbClr val="E3DCC6"/>
            </a:solidFill>
            <a:prstDash val="solid"/>
          </a:ln>
        </p:spPr>
        <p:txBody>
          <a:bodyPr/>
          <a:lstStyle/>
          <a:p>
            <a:endParaRPr lang="en-ZA"/>
          </a:p>
        </p:txBody>
      </p:sp>
      <p:sp>
        <p:nvSpPr>
          <p:cNvPr id="11" name="Text 9"/>
          <p:cNvSpPr/>
          <p:nvPr/>
        </p:nvSpPr>
        <p:spPr>
          <a:xfrm>
            <a:off x="1074663" y="3492748"/>
            <a:ext cx="47975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Two volunteers, one last place</a:t>
            </a:r>
            <a:endParaRPr lang="en-US" sz="1600" dirty="0"/>
          </a:p>
        </p:txBody>
      </p:sp>
      <p:sp>
        <p:nvSpPr>
          <p:cNvPr id="12" name="Text 10"/>
          <p:cNvSpPr/>
          <p:nvPr/>
        </p:nvSpPr>
        <p:spPr>
          <a:xfrm>
            <a:off x="1074663" y="3812604"/>
            <a:ext cx="47975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Solved with a concurrency token and retry and proven by a race condition test.</a:t>
            </a:r>
            <a:endParaRPr lang="en-US" sz="1200" dirty="0"/>
          </a:p>
        </p:txBody>
      </p:sp>
      <p:sp>
        <p:nvSpPr>
          <p:cNvPr id="13" name="Shape 11"/>
          <p:cNvSpPr/>
          <p:nvPr/>
        </p:nvSpPr>
        <p:spPr>
          <a:xfrm>
            <a:off x="6200750" y="3259410"/>
            <a:ext cx="5175349" cy="1213172"/>
          </a:xfrm>
          <a:prstGeom prst="roundRect">
            <a:avLst>
              <a:gd name="adj" fmla="val 8113"/>
            </a:avLst>
          </a:prstGeom>
          <a:solidFill>
            <a:srgbClr val="FFFDF7"/>
          </a:solidFill>
          <a:ln w="6350">
            <a:solidFill>
              <a:srgbClr val="E3DCC6"/>
            </a:solidFill>
            <a:prstDash val="solid"/>
          </a:ln>
        </p:spPr>
        <p:txBody>
          <a:bodyPr/>
          <a:lstStyle/>
          <a:p>
            <a:endParaRPr lang="en-ZA"/>
          </a:p>
        </p:txBody>
      </p:sp>
      <p:sp>
        <p:nvSpPr>
          <p:cNvPr id="14" name="Text 12"/>
          <p:cNvSpPr/>
          <p:nvPr/>
        </p:nvSpPr>
        <p:spPr>
          <a:xfrm>
            <a:off x="6459513" y="3492748"/>
            <a:ext cx="47975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Tests caught a real bug</a:t>
            </a:r>
            <a:endParaRPr lang="en-US" sz="1600" dirty="0"/>
          </a:p>
        </p:txBody>
      </p:sp>
      <p:sp>
        <p:nvSpPr>
          <p:cNvPr id="15" name="Text 13"/>
          <p:cNvSpPr/>
          <p:nvPr/>
        </p:nvSpPr>
        <p:spPr>
          <a:xfrm>
            <a:off x="6459513" y="3812604"/>
            <a:ext cx="47975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The audit trail saved as UPDATE, not INSERT. Found by end to end tests fixed before release.</a:t>
            </a:r>
            <a:endParaRPr lang="en-US" sz="1200" dirty="0"/>
          </a:p>
        </p:txBody>
      </p:sp>
      <p:sp>
        <p:nvSpPr>
          <p:cNvPr id="16" name="Text 14"/>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A5A12"/>
                </a:solidFill>
                <a:latin typeface="Space Mono" pitchFamily="49" charset="0"/>
                <a:ea typeface="Space Mono" pitchFamily="49" charset="-122"/>
                <a:cs typeface="Space Mono" pitchFamily="49" charset="-120"/>
              </a:rPr>
              <a:t>GOING LIVE</a:t>
            </a:r>
            <a:endParaRPr lang="en-US" sz="1200" dirty="0"/>
          </a:p>
        </p:txBody>
      </p:sp>
      <p:sp>
        <p:nvSpPr>
          <p:cNvPr id="3" name="Text 1"/>
          <p:cNvSpPr>
            <a:spLocks noGrp="1"/>
          </p:cNvSpPr>
          <p:nvPr>
            <p:ph type="title"/>
          </p:nvPr>
        </p:nvSpPr>
        <p:spPr>
          <a:xfrm>
            <a:off x="812726" y="107677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3A2E"/>
                </a:solidFill>
                <a:latin typeface="Zilla Slab" pitchFamily="18" charset="0"/>
                <a:ea typeface="Zilla Slab" pitchFamily="18" charset="-122"/>
                <a:cs typeface="Zilla Slab" pitchFamily="18" charset="-120"/>
              </a:rPr>
              <a:t>Four problems we solved on Azure</a:t>
            </a:r>
            <a:endParaRPr lang="en-US" sz="3600" dirty="0"/>
          </a:p>
        </p:txBody>
      </p:sp>
      <p:sp>
        <p:nvSpPr>
          <p:cNvPr id="4" name="Shape 2"/>
          <p:cNvSpPr/>
          <p:nvPr/>
        </p:nvSpPr>
        <p:spPr>
          <a:xfrm>
            <a:off x="815901" y="1836737"/>
            <a:ext cx="5175349" cy="1213172"/>
          </a:xfrm>
          <a:prstGeom prst="roundRect">
            <a:avLst>
              <a:gd name="adj" fmla="val 8113"/>
            </a:avLst>
          </a:prstGeom>
          <a:solidFill>
            <a:srgbClr val="FFFDF7"/>
          </a:solidFill>
          <a:ln w="6350">
            <a:solidFill>
              <a:srgbClr val="E3DCC6"/>
            </a:solidFill>
            <a:prstDash val="solid"/>
          </a:ln>
        </p:spPr>
        <p:txBody>
          <a:bodyPr/>
          <a:lstStyle/>
          <a:p>
            <a:endParaRPr lang="en-ZA" dirty="0"/>
          </a:p>
        </p:txBody>
      </p:sp>
      <p:sp>
        <p:nvSpPr>
          <p:cNvPr id="5" name="Text 3"/>
          <p:cNvSpPr/>
          <p:nvPr/>
        </p:nvSpPr>
        <p:spPr>
          <a:xfrm>
            <a:off x="1074663" y="2070075"/>
            <a:ext cx="47975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No rights to create an identity</a:t>
            </a:r>
            <a:endParaRPr lang="en-US" sz="1600" dirty="0"/>
          </a:p>
        </p:txBody>
      </p:sp>
      <p:sp>
        <p:nvSpPr>
          <p:cNvPr id="6" name="Text 4"/>
          <p:cNvSpPr/>
          <p:nvPr/>
        </p:nvSpPr>
        <p:spPr>
          <a:xfrm>
            <a:off x="1074663" y="2389932"/>
            <a:ext cx="47975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Student accounts block app registrations so we added a publish profile deploy mode.</a:t>
            </a:r>
            <a:endParaRPr lang="en-US" sz="1200" dirty="0"/>
          </a:p>
        </p:txBody>
      </p:sp>
      <p:sp>
        <p:nvSpPr>
          <p:cNvPr id="7" name="Shape 5"/>
          <p:cNvSpPr/>
          <p:nvPr/>
        </p:nvSpPr>
        <p:spPr>
          <a:xfrm>
            <a:off x="6200750" y="1836737"/>
            <a:ext cx="5175349" cy="1213172"/>
          </a:xfrm>
          <a:prstGeom prst="roundRect">
            <a:avLst>
              <a:gd name="adj" fmla="val 8113"/>
            </a:avLst>
          </a:prstGeom>
          <a:solidFill>
            <a:srgbClr val="FFFDF7"/>
          </a:solidFill>
          <a:ln w="6350">
            <a:solidFill>
              <a:srgbClr val="E3DCC6"/>
            </a:solidFill>
            <a:prstDash val="solid"/>
          </a:ln>
        </p:spPr>
        <p:txBody>
          <a:bodyPr/>
          <a:lstStyle/>
          <a:p>
            <a:endParaRPr lang="en-ZA"/>
          </a:p>
        </p:txBody>
      </p:sp>
      <p:sp>
        <p:nvSpPr>
          <p:cNvPr id="8" name="Text 6"/>
          <p:cNvSpPr/>
          <p:nvPr/>
        </p:nvSpPr>
        <p:spPr>
          <a:xfrm>
            <a:off x="6459513" y="2070075"/>
            <a:ext cx="47975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The pipeline checked the wrong address</a:t>
            </a:r>
            <a:endParaRPr lang="en-US" sz="1600" dirty="0"/>
          </a:p>
        </p:txBody>
      </p:sp>
      <p:sp>
        <p:nvSpPr>
          <p:cNvPr id="9" name="Text 7"/>
          <p:cNvSpPr/>
          <p:nvPr/>
        </p:nvSpPr>
        <p:spPr>
          <a:xfrm>
            <a:off x="6459513" y="2389932"/>
            <a:ext cx="47975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New Azure apps get a unique hostname. The real URLs are now pipeline variables.</a:t>
            </a:r>
            <a:endParaRPr lang="en-US" sz="1200" dirty="0"/>
          </a:p>
        </p:txBody>
      </p:sp>
      <p:sp>
        <p:nvSpPr>
          <p:cNvPr id="10" name="Shape 8"/>
          <p:cNvSpPr/>
          <p:nvPr/>
        </p:nvSpPr>
        <p:spPr>
          <a:xfrm>
            <a:off x="815901" y="3259410"/>
            <a:ext cx="5175349" cy="1213172"/>
          </a:xfrm>
          <a:prstGeom prst="roundRect">
            <a:avLst>
              <a:gd name="adj" fmla="val 8113"/>
            </a:avLst>
          </a:prstGeom>
          <a:solidFill>
            <a:srgbClr val="FFFDF7"/>
          </a:solidFill>
          <a:ln w="6350">
            <a:solidFill>
              <a:srgbClr val="E3DCC6"/>
            </a:solidFill>
            <a:prstDash val="solid"/>
          </a:ln>
        </p:spPr>
        <p:txBody>
          <a:bodyPr/>
          <a:lstStyle/>
          <a:p>
            <a:endParaRPr lang="en-ZA"/>
          </a:p>
        </p:txBody>
      </p:sp>
      <p:sp>
        <p:nvSpPr>
          <p:cNvPr id="11" name="Text 9"/>
          <p:cNvSpPr/>
          <p:nvPr/>
        </p:nvSpPr>
        <p:spPr>
          <a:xfrm>
            <a:off x="1074663" y="3492748"/>
            <a:ext cx="47975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App crashed on start-up (500.30)</a:t>
            </a:r>
            <a:endParaRPr lang="en-US" sz="1600" dirty="0"/>
          </a:p>
        </p:txBody>
      </p:sp>
      <p:sp>
        <p:nvSpPr>
          <p:cNvPr id="12" name="Text 10"/>
          <p:cNvSpPr/>
          <p:nvPr/>
        </p:nvSpPr>
        <p:spPr>
          <a:xfrm>
            <a:off x="1074663" y="3812604"/>
            <a:ext cx="47975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The database firewall blocked the app. Kudu showed the error; firewall rules fixed it.</a:t>
            </a:r>
            <a:endParaRPr lang="en-US" sz="1200" dirty="0"/>
          </a:p>
        </p:txBody>
      </p:sp>
      <p:sp>
        <p:nvSpPr>
          <p:cNvPr id="13" name="Shape 11"/>
          <p:cNvSpPr/>
          <p:nvPr/>
        </p:nvSpPr>
        <p:spPr>
          <a:xfrm>
            <a:off x="6200750" y="3259410"/>
            <a:ext cx="5175349" cy="1213172"/>
          </a:xfrm>
          <a:prstGeom prst="roundRect">
            <a:avLst>
              <a:gd name="adj" fmla="val 8113"/>
            </a:avLst>
          </a:prstGeom>
          <a:solidFill>
            <a:srgbClr val="FFFDF7"/>
          </a:solidFill>
          <a:ln w="6350">
            <a:solidFill>
              <a:srgbClr val="E3DCC6"/>
            </a:solidFill>
            <a:prstDash val="solid"/>
          </a:ln>
        </p:spPr>
        <p:txBody>
          <a:bodyPr/>
          <a:lstStyle/>
          <a:p>
            <a:endParaRPr lang="en-ZA"/>
          </a:p>
        </p:txBody>
      </p:sp>
      <p:sp>
        <p:nvSpPr>
          <p:cNvPr id="14" name="Text 12"/>
          <p:cNvSpPr/>
          <p:nvPr/>
        </p:nvSpPr>
        <p:spPr>
          <a:xfrm>
            <a:off x="6459513" y="3492748"/>
            <a:ext cx="479755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Zilla Slab" pitchFamily="18" charset="0"/>
                <a:ea typeface="Zilla Slab" pitchFamily="18" charset="-122"/>
                <a:cs typeface="Zilla Slab" pitchFamily="18" charset="-120"/>
              </a:rPr>
              <a:t>CI blocked vulnerable packages</a:t>
            </a:r>
            <a:endParaRPr lang="en-US" sz="1600" dirty="0"/>
          </a:p>
        </p:txBody>
      </p:sp>
      <p:sp>
        <p:nvSpPr>
          <p:cNvPr id="15" name="Text 13"/>
          <p:cNvSpPr/>
          <p:nvPr/>
        </p:nvSpPr>
        <p:spPr>
          <a:xfrm>
            <a:off x="6459513" y="3812604"/>
            <a:ext cx="47975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648"/>
                </a:solidFill>
                <a:latin typeface="Karla" pitchFamily="34" charset="0"/>
                <a:ea typeface="Karla" pitchFamily="34" charset="-122"/>
                <a:cs typeface="Karla" pitchFamily="34" charset="-120"/>
              </a:rPr>
              <a:t>The scan flagged two library versions. We pinned the patched releases.</a:t>
            </a:r>
            <a:endParaRPr lang="en-US" sz="1200" dirty="0"/>
          </a:p>
        </p:txBody>
      </p:sp>
      <p:sp>
        <p:nvSpPr>
          <p:cNvPr id="16" name="Text 14"/>
          <p:cNvSpPr/>
          <p:nvPr/>
        </p:nvSpPr>
        <p:spPr>
          <a:xfrm>
            <a:off x="495737" y="6238379"/>
            <a:ext cx="108832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648"/>
                </a:solidFill>
                <a:latin typeface="Karla" pitchFamily="34" charset="0"/>
                <a:ea typeface="Karla" pitchFamily="34" charset="-122"/>
                <a:cs typeface="Karla" pitchFamily="34" charset="-120"/>
              </a:rPr>
              <a:t>PawConnect · Task 2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A2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8A33D"/>
                </a:solidFill>
                <a:latin typeface="Space Mono" pitchFamily="49" charset="0"/>
                <a:ea typeface="Space Mono" pitchFamily="49" charset="-122"/>
                <a:cs typeface="Space Mono" pitchFamily="49" charset="-120"/>
              </a:rPr>
              <a:t>OUR REQUEST</a:t>
            </a:r>
            <a:endParaRPr lang="en-US" sz="1200" dirty="0"/>
          </a:p>
        </p:txBody>
      </p:sp>
      <p:sp>
        <p:nvSpPr>
          <p:cNvPr id="3" name="Text 1"/>
          <p:cNvSpPr>
            <a:spLocks noGrp="1"/>
          </p:cNvSpPr>
          <p:nvPr>
            <p:ph type="title"/>
          </p:nvPr>
        </p:nvSpPr>
        <p:spPr>
          <a:xfrm>
            <a:off x="812726" y="1178347"/>
            <a:ext cx="10883545" cy="787400"/>
          </a:xfrm>
          <a:prstGeom prst="rect">
            <a:avLst/>
          </a:prstGeom>
          <a:noFill/>
          <a:ln/>
        </p:spPr>
        <p:txBody>
          <a:bodyPr wrap="square" lIns="0" tIns="0" rIns="0" bIns="0" rtlCol="0" anchor="t">
            <a:normAutofit/>
          </a:bodyPr>
          <a:lstStyle/>
          <a:p>
            <a:pPr marL="0" indent="0" algn="l">
              <a:lnSpc>
                <a:spcPts val="6000"/>
              </a:lnSpc>
              <a:buNone/>
            </a:pPr>
            <a:r>
              <a:rPr lang="en-US" sz="6000" b="1" i="0" dirty="0">
                <a:solidFill>
                  <a:srgbClr val="FAF7EE"/>
                </a:solidFill>
                <a:latin typeface="Zilla Slab" pitchFamily="18" charset="0"/>
                <a:ea typeface="Zilla Slab" pitchFamily="18" charset="-122"/>
                <a:cs typeface="Zilla Slab" pitchFamily="18" charset="-120"/>
              </a:rPr>
              <a:t>Ready for your approval</a:t>
            </a:r>
            <a:endParaRPr lang="en-US" sz="6000" dirty="0"/>
          </a:p>
        </p:txBody>
      </p:sp>
      <p:sp>
        <p:nvSpPr>
          <p:cNvPr id="4" name="Text 2"/>
          <p:cNvSpPr/>
          <p:nvPr/>
        </p:nvSpPr>
        <p:spPr>
          <a:xfrm>
            <a:off x="812726" y="2092647"/>
            <a:ext cx="10883545"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EFE4C8"/>
                </a:solidFill>
                <a:latin typeface="Karla" pitchFamily="34" charset="0"/>
                <a:ea typeface="Karla" pitchFamily="34" charset="-122"/>
                <a:cs typeface="Karla" pitchFamily="34" charset="-120"/>
              </a:rPr>
              <a:t>PawConnect is live on Azure, in production and staging and passes every automated check.</a:t>
            </a:r>
            <a:endParaRPr lang="en-US" sz="2200" dirty="0"/>
          </a:p>
        </p:txBody>
      </p:sp>
      <p:sp>
        <p:nvSpPr>
          <p:cNvPr id="5" name="Shape 3"/>
          <p:cNvSpPr/>
          <p:nvPr/>
        </p:nvSpPr>
        <p:spPr>
          <a:xfrm>
            <a:off x="812726" y="3874294"/>
            <a:ext cx="3386708" cy="0"/>
          </a:xfrm>
          <a:prstGeom prst="line">
            <a:avLst/>
          </a:prstGeom>
          <a:noFill/>
          <a:ln w="25400">
            <a:solidFill>
              <a:srgbClr val="E8A33D"/>
            </a:solidFill>
            <a:prstDash val="solid"/>
          </a:ln>
        </p:spPr>
        <p:txBody>
          <a:bodyPr/>
          <a:lstStyle/>
          <a:p>
            <a:endParaRPr lang="en-ZA"/>
          </a:p>
        </p:txBody>
      </p:sp>
      <p:sp>
        <p:nvSpPr>
          <p:cNvPr id="6" name="Text 4"/>
          <p:cNvSpPr/>
          <p:nvPr/>
        </p:nvSpPr>
        <p:spPr>
          <a:xfrm>
            <a:off x="812726" y="4037707"/>
            <a:ext cx="348830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7EE"/>
                </a:solidFill>
                <a:latin typeface="Zilla Slab" pitchFamily="18" charset="0"/>
                <a:ea typeface="Zilla Slab" pitchFamily="18" charset="-122"/>
                <a:cs typeface="Zilla Slab" pitchFamily="18" charset="-120"/>
              </a:rPr>
              <a:t>Next: UAT</a:t>
            </a:r>
            <a:endParaRPr lang="en-US" sz="1600" dirty="0"/>
          </a:p>
        </p:txBody>
      </p:sp>
      <p:sp>
        <p:nvSpPr>
          <p:cNvPr id="7" name="Text 5"/>
          <p:cNvSpPr/>
          <p:nvPr/>
        </p:nvSpPr>
        <p:spPr>
          <a:xfrm>
            <a:off x="812726" y="4332139"/>
            <a:ext cx="34883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CE"/>
                </a:solidFill>
                <a:latin typeface="Karla" pitchFamily="34" charset="0"/>
                <a:ea typeface="Karla" pitchFamily="34" charset="-122"/>
                <a:cs typeface="Karla" pitchFamily="34" charset="-120"/>
              </a:rPr>
              <a:t>Shelter manager and two volunteers</a:t>
            </a:r>
            <a:endParaRPr lang="en-US" sz="1200" dirty="0"/>
          </a:p>
        </p:txBody>
      </p:sp>
      <p:sp>
        <p:nvSpPr>
          <p:cNvPr id="8" name="Shape 6"/>
          <p:cNvSpPr/>
          <p:nvPr/>
        </p:nvSpPr>
        <p:spPr>
          <a:xfrm>
            <a:off x="4402584" y="3874294"/>
            <a:ext cx="3386708" cy="0"/>
          </a:xfrm>
          <a:prstGeom prst="line">
            <a:avLst/>
          </a:prstGeom>
          <a:noFill/>
          <a:ln w="25400">
            <a:solidFill>
              <a:srgbClr val="E8A33D"/>
            </a:solidFill>
            <a:prstDash val="solid"/>
          </a:ln>
        </p:spPr>
        <p:txBody>
          <a:bodyPr/>
          <a:lstStyle/>
          <a:p>
            <a:endParaRPr lang="en-ZA"/>
          </a:p>
        </p:txBody>
      </p:sp>
      <p:sp>
        <p:nvSpPr>
          <p:cNvPr id="9" name="Text 7"/>
          <p:cNvSpPr/>
          <p:nvPr/>
        </p:nvSpPr>
        <p:spPr>
          <a:xfrm>
            <a:off x="4402584" y="4037707"/>
            <a:ext cx="348830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7EE"/>
                </a:solidFill>
                <a:latin typeface="Zilla Slab" pitchFamily="18" charset="0"/>
                <a:ea typeface="Zilla Slab" pitchFamily="18" charset="-122"/>
                <a:cs typeface="Zilla Slab" pitchFamily="18" charset="-120"/>
              </a:rPr>
              <a:t>Then: training</a:t>
            </a:r>
            <a:endParaRPr lang="en-US" sz="1600" dirty="0"/>
          </a:p>
        </p:txBody>
      </p:sp>
      <p:sp>
        <p:nvSpPr>
          <p:cNvPr id="10" name="Text 8"/>
          <p:cNvSpPr/>
          <p:nvPr/>
        </p:nvSpPr>
        <p:spPr>
          <a:xfrm>
            <a:off x="4402584" y="4332139"/>
            <a:ext cx="34883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CE"/>
                </a:solidFill>
                <a:latin typeface="Karla" pitchFamily="34" charset="0"/>
                <a:ea typeface="Karla" pitchFamily="34" charset="-122"/>
                <a:cs typeface="Karla" pitchFamily="34" charset="-120"/>
              </a:rPr>
              <a:t>User guide and </a:t>
            </a:r>
            <a:r>
              <a:rPr lang="en-US" sz="1200">
                <a:solidFill>
                  <a:srgbClr val="C9D6CE"/>
                </a:solidFill>
                <a:latin typeface="Karla" pitchFamily="34" charset="0"/>
                <a:ea typeface="Karla" pitchFamily="34" charset="-122"/>
                <a:cs typeface="Karla" pitchFamily="34" charset="-120"/>
              </a:rPr>
              <a:t>a 1 hour </a:t>
            </a:r>
            <a:r>
              <a:rPr lang="en-US" sz="1200" dirty="0">
                <a:solidFill>
                  <a:srgbClr val="C9D6CE"/>
                </a:solidFill>
                <a:latin typeface="Karla" pitchFamily="34" charset="0"/>
                <a:ea typeface="Karla" pitchFamily="34" charset="-122"/>
                <a:cs typeface="Karla" pitchFamily="34" charset="-120"/>
              </a:rPr>
              <a:t>session</a:t>
            </a:r>
            <a:endParaRPr lang="en-US" sz="1200" dirty="0"/>
          </a:p>
        </p:txBody>
      </p:sp>
      <p:sp>
        <p:nvSpPr>
          <p:cNvPr id="11" name="Shape 9"/>
          <p:cNvSpPr/>
          <p:nvPr/>
        </p:nvSpPr>
        <p:spPr>
          <a:xfrm>
            <a:off x="7992442" y="3874294"/>
            <a:ext cx="3386832" cy="0"/>
          </a:xfrm>
          <a:prstGeom prst="line">
            <a:avLst/>
          </a:prstGeom>
          <a:noFill/>
          <a:ln w="25400">
            <a:solidFill>
              <a:srgbClr val="E8A33D"/>
            </a:solidFill>
            <a:prstDash val="solid"/>
          </a:ln>
        </p:spPr>
        <p:txBody>
          <a:bodyPr/>
          <a:lstStyle/>
          <a:p>
            <a:endParaRPr lang="en-ZA"/>
          </a:p>
        </p:txBody>
      </p:sp>
      <p:sp>
        <p:nvSpPr>
          <p:cNvPr id="12" name="Text 10"/>
          <p:cNvSpPr/>
          <p:nvPr/>
        </p:nvSpPr>
        <p:spPr>
          <a:xfrm>
            <a:off x="7992442" y="4037707"/>
            <a:ext cx="3488437"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7EE"/>
                </a:solidFill>
                <a:latin typeface="Zilla Slab" pitchFamily="18" charset="0"/>
                <a:ea typeface="Zilla Slab" pitchFamily="18" charset="-122"/>
                <a:cs typeface="Zilla Slab" pitchFamily="18" charset="-120"/>
              </a:rPr>
              <a:t>Go live</a:t>
            </a:r>
            <a:endParaRPr lang="en-US" sz="1600" dirty="0"/>
          </a:p>
        </p:txBody>
      </p:sp>
      <p:sp>
        <p:nvSpPr>
          <p:cNvPr id="13" name="Text 11"/>
          <p:cNvSpPr/>
          <p:nvPr/>
        </p:nvSpPr>
        <p:spPr>
          <a:xfrm>
            <a:off x="7992442" y="4332139"/>
            <a:ext cx="34884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CE"/>
                </a:solidFill>
                <a:latin typeface="Karla" pitchFamily="34" charset="0"/>
                <a:ea typeface="Karla" pitchFamily="34" charset="-122"/>
                <a:cs typeface="Karla" pitchFamily="34" charset="-120"/>
              </a:rPr>
              <a:t>Two weeks in parallel, then switch · questions?</a:t>
            </a:r>
            <a:endParaRPr lang="en-US" sz="1200" dirty="0"/>
          </a:p>
        </p:txBody>
      </p:sp>
      <p:sp>
        <p:nvSpPr>
          <p:cNvPr id="14" name="Text 12"/>
          <p:cNvSpPr/>
          <p:nvPr/>
        </p:nvSpPr>
        <p:spPr>
          <a:xfrm>
            <a:off x="812726" y="5588124"/>
            <a:ext cx="10883545" cy="48255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A33D"/>
                </a:solidFill>
                <a:latin typeface="Space Mono" pitchFamily="49" charset="0"/>
                <a:ea typeface="Space Mono" pitchFamily="49" charset="-122"/>
                <a:cs typeface="Space Mono" pitchFamily="49" charset="-120"/>
              </a:rPr>
              <a:t>Production</a:t>
            </a:r>
            <a:r>
              <a:rPr lang="en-US" sz="1200" dirty="0">
                <a:solidFill>
                  <a:srgbClr val="C9D6CE"/>
                </a:solidFill>
                <a:latin typeface="Space Mono" pitchFamily="49" charset="0"/>
                <a:ea typeface="Space Mono" pitchFamily="49" charset="-122"/>
                <a:cs typeface="Space Mono" pitchFamily="49" charset="-120"/>
              </a:rPr>
              <a:t> pawconnect-st10285120-fbfcdpfnf5g2h0bk.southafricanorth-01.azurewebsites.net</a:t>
            </a:r>
            <a:endParaRPr lang="en-US" sz="1200" dirty="0"/>
          </a:p>
          <a:p>
            <a:pPr marL="0" indent="0" algn="l">
              <a:lnSpc>
                <a:spcPts val="1800"/>
              </a:lnSpc>
              <a:buNone/>
            </a:pPr>
            <a:r>
              <a:rPr lang="en-US" sz="1200" dirty="0">
                <a:solidFill>
                  <a:srgbClr val="E8A33D"/>
                </a:solidFill>
                <a:latin typeface="Space Mono" pitchFamily="49" charset="0"/>
                <a:ea typeface="Space Mono" pitchFamily="49" charset="-122"/>
                <a:cs typeface="Space Mono" pitchFamily="49" charset="-120"/>
              </a:rPr>
              <a:t>Staging   </a:t>
            </a:r>
            <a:r>
              <a:rPr lang="en-US" sz="1200" dirty="0">
                <a:solidFill>
                  <a:srgbClr val="C9D6CE"/>
                </a:solidFill>
                <a:latin typeface="Space Mono" pitchFamily="49" charset="0"/>
                <a:ea typeface="Space Mono" pitchFamily="49" charset="-122"/>
                <a:cs typeface="Space Mono" pitchFamily="49" charset="-120"/>
              </a:rPr>
              <a:t> pawconnect-st10285120-staging-g0dzbfbtc8atbfcw.southafricanorth-01.azurewebsites.net</a:t>
            </a:r>
            <a:endParaRPr lang="en-US" sz="1200" dirty="0"/>
          </a:p>
        </p:txBody>
      </p:sp>
    </p:spTree>
  </p:cSld>
  <p:clrMapOvr>
    <a:masterClrMapping/>
  </p:clrMapOvr>
</p:sld>
</file>

<file path=ppt/theme/theme1.xml><?xml version="1.0" encoding="utf-8"?>
<a:theme xmlns:a="http://schemas.openxmlformats.org/drawingml/2006/main" name="PawConnect Implementation Presentation">
  <a:themeElements>
    <a:clrScheme name="PawConnect Implementation Presentation">
      <a:dk1>
        <a:srgbClr val="1F3A2E"/>
      </a:dk1>
      <a:lt1>
        <a:srgbClr val="FAF7EE"/>
      </a:lt1>
      <a:dk2>
        <a:srgbClr val="56695E"/>
      </a:dk2>
      <a:lt2>
        <a:srgbClr val="E4E4DB"/>
      </a:lt2>
      <a:accent1>
        <a:srgbClr val="EFE4C8"/>
      </a:accent1>
      <a:accent2>
        <a:srgbClr val="8A5A12"/>
      </a:accent2>
      <a:accent3>
        <a:srgbClr val="E8A33D"/>
      </a:accent3>
      <a:accent4>
        <a:srgbClr val="5B5648"/>
      </a:accent4>
      <a:accent5>
        <a:srgbClr val="C9D6CE"/>
      </a:accent5>
      <a:accent6>
        <a:srgbClr val="9AA0A6"/>
      </a:accent6>
      <a:hlink>
        <a:srgbClr val="0563C1"/>
      </a:hlink>
      <a:folHlink>
        <a:srgbClr val="954F72"/>
      </a:folHlink>
    </a:clrScheme>
    <a:fontScheme name="PawConnect Implementation Presentation">
      <a:majorFont>
        <a:latin typeface="Zilla Slab"/>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Karl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4104</Words>
  <Application>Microsoft Office PowerPoint</Application>
  <PresentationFormat>Widescreen</PresentationFormat>
  <Paragraphs>314</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Karla</vt:lpstr>
      <vt:lpstr>Space Mono</vt:lpstr>
      <vt:lpstr>Zilla Slab</vt:lpstr>
      <vt:lpstr>PawConnect Implementation Presentation</vt:lpstr>
      <vt:lpstr>PawConnect</vt:lpstr>
      <vt:lpstr>Four problems, four fixes</vt:lpstr>
      <vt:lpstr>One adoption, end to end</vt:lpstr>
      <vt:lpstr>Built for phones and screen readers</vt:lpstr>
      <vt:lpstr>Everything a shift needs</vt:lpstr>
      <vt:lpstr>Numbers the board can trust</vt:lpstr>
      <vt:lpstr>A layered, modular monolith</vt:lpstr>
      <vt:lpstr>The patterns we promised, built</vt:lpstr>
      <vt:lpstr>The adoption lifecycle</vt:lpstr>
      <vt:lpstr>Integrity lives in the database</vt:lpstr>
      <vt:lpstr>One API for the site and others</vt:lpstr>
      <vt:lpstr>Secure at every layer</vt:lpstr>
      <vt:lpstr>Live on Azure, in South Africa</vt:lpstr>
      <vt:lpstr>Gitflow, every change reviewed</vt:lpstr>
      <vt:lpstr>From pull request to production</vt:lpstr>
      <vt:lpstr>Proven by automation, not promises</vt:lpstr>
      <vt:lpstr>Every Part 1 requirement, traced</vt:lpstr>
      <vt:lpstr>What changed, and why</vt:lpstr>
      <vt:lpstr>Four problems we solved on Azure</vt:lpstr>
      <vt:lpstr>Ready for your approval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PawConnect Implementation Presentation</dc:title>
  <dc:subject/>
  <dc:creator/>
  <cp:lastModifiedBy>Carson Norman</cp:lastModifiedBy>
  <cp:revision>2</cp:revision>
  <dcterms:created xsi:type="dcterms:W3CDTF">2026-10-05T14:28:58Z</dcterms:created>
  <dcterms:modified xsi:type="dcterms:W3CDTF">2026-10-05T14:33:45Z</dcterms:modified>
</cp:coreProperties>
</file>